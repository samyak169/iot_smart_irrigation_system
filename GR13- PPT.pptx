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62" r:id="rId9"/>
    <p:sldId id="263" r:id="rId10"/>
    <p:sldId id="264" r:id="rId11"/>
    <p:sldId id="278" r:id="rId12"/>
    <p:sldId id="279" r:id="rId13"/>
    <p:sldId id="280" r:id="rId14"/>
    <p:sldId id="281" r:id="rId15"/>
    <p:sldId id="282" r:id="rId16"/>
    <p:sldId id="283" r:id="rId17"/>
    <p:sldId id="265" r:id="rId18"/>
    <p:sldId id="266" r:id="rId19"/>
    <p:sldId id="267" r:id="rId20"/>
    <p:sldId id="268" r:id="rId21"/>
    <p:sldId id="269" r:id="rId22"/>
    <p:sldId id="275" r:id="rId23"/>
    <p:sldId id="276" r:id="rId24"/>
    <p:sldId id="277" r:id="rId25"/>
    <p:sldId id="284" r:id="rId26"/>
    <p:sldId id="285" r:id="rId27"/>
    <p:sldId id="272" r:id="rId28"/>
    <p:sldId id="273" r:id="rId29"/>
    <p:sldId id="274" r:id="rId3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 autoAdjust="0"/>
    <p:restoredTop sz="92090" autoAdjust="0"/>
  </p:normalViewPr>
  <p:slideViewPr>
    <p:cSldViewPr>
      <p:cViewPr varScale="1">
        <p:scale>
          <a:sx n="84" d="100"/>
          <a:sy n="84" d="100"/>
        </p:scale>
        <p:origin x="1656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B5197-B1F7-4CAE-A5B9-F4516F473532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6B189-726E-459B-A3DF-EB2546025F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495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B189-726E-459B-A3DF-EB2546025F52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10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6B189-726E-459B-A3DF-EB2546025F52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95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/>
              <a:t>To Design ESP32- Driven System For Soil Health And Climate Adaptive Irrigation Network Using Iot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0E71C-1961-49EE-A993-6B64C8868B66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/>
              <a:t>To Design ESP32- Driven System For Soil Health And Climate Adaptive Irrigation Network Using Iot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DFB8E-A1B1-468F-9EBE-7DF938B6B070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/>
              <a:t>To Design ESP32- Driven System For Soil Health And Climate Adaptive Irrigation Network Using Iot</a:t>
            </a:r>
            <a:endParaRPr spc="-2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FC2E1-CB7F-4FB7-B771-9D9C8C3F9496}" type="datetime1">
              <a:rPr lang="en-US" smtClean="0"/>
              <a:t>6/28/2026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/>
              <a:t>To Design ESP32- Driven System For Soil Health And Climate Adaptive Irrigation Network Using Iot</a:t>
            </a:r>
            <a:endParaRPr spc="-25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DCB2A6-476C-4639-AB71-396B6E8434DB}" type="datetime1">
              <a:rPr lang="en-US" smtClean="0"/>
              <a:t>6/28/2026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/>
              <a:t>To Design ESP32- Driven System For Soil Health And Climate Adaptive Irrigation Network Using Iot</a:t>
            </a:r>
            <a:endParaRPr spc="-25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2DED7-CF98-46BA-BDE7-1D8E33BE8E9C}" type="datetime1">
              <a:rPr lang="en-US" smtClean="0"/>
              <a:t>6/28/2026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6200"/>
            <a:ext cx="9144000" cy="990600"/>
          </a:xfrm>
          <a:custGeom>
            <a:avLst/>
            <a:gdLst/>
            <a:ahLst/>
            <a:cxnLst/>
            <a:rect l="l" t="t" r="r" b="b"/>
            <a:pathLst>
              <a:path w="9144000" h="990600">
                <a:moveTo>
                  <a:pt x="9144000" y="0"/>
                </a:moveTo>
                <a:lnTo>
                  <a:pt x="0" y="0"/>
                </a:lnTo>
                <a:lnTo>
                  <a:pt x="0" y="990600"/>
                </a:lnTo>
                <a:lnTo>
                  <a:pt x="9144000" y="990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9C0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19398" y="6433304"/>
            <a:ext cx="2559685" cy="289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/>
              <a:t>To Design ESP32- Driven System For Soil Health And Climate Adaptive Irrigation Network Using Iot</a:t>
            </a:r>
            <a:endParaRPr spc="-2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63727-CE48-468E-90C4-64B6D438B2C7}" type="datetime1">
              <a:rPr lang="en-US" smtClean="0"/>
              <a:t>6/28/2026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7333" y="6433304"/>
            <a:ext cx="259079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eg"/><Relationship Id="rId5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 dirty="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 dirty="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 dirty="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28587"/>
            <a:ext cx="1143000" cy="86201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6799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 dirty="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9352" y="1112977"/>
            <a:ext cx="7219315" cy="2588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solidFill>
                  <a:srgbClr val="548ED4"/>
                </a:solidFill>
                <a:latin typeface="Times New Roman"/>
                <a:cs typeface="Times New Roman"/>
              </a:rPr>
              <a:t>A</a:t>
            </a:r>
            <a:endParaRPr sz="2800" dirty="0">
              <a:latin typeface="Times New Roman"/>
              <a:cs typeface="Times New Roman"/>
            </a:endParaRPr>
          </a:p>
          <a:p>
            <a:pPr marL="2376170" marR="2364740" algn="ctr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548ED4"/>
                </a:solidFill>
                <a:latin typeface="Times New Roman"/>
                <a:cs typeface="Times New Roman"/>
              </a:rPr>
              <a:t>Project</a:t>
            </a:r>
            <a:r>
              <a:rPr sz="2800" b="1" spc="-125" dirty="0">
                <a:solidFill>
                  <a:srgbClr val="548ED4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548ED4"/>
                </a:solidFill>
                <a:latin typeface="Times New Roman"/>
                <a:cs typeface="Times New Roman"/>
              </a:rPr>
              <a:t>Seminar </a:t>
            </a:r>
            <a:r>
              <a:rPr sz="2800" b="1" spc="-25" dirty="0">
                <a:solidFill>
                  <a:srgbClr val="548ED4"/>
                </a:solidFill>
                <a:latin typeface="Times New Roman"/>
                <a:cs typeface="Times New Roman"/>
              </a:rPr>
              <a:t>On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2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“</a:t>
            </a:r>
            <a:r>
              <a:rPr sz="2400" b="1" spc="-50" dirty="0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sz="24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Design</a:t>
            </a:r>
            <a:r>
              <a:rPr sz="24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ESP32-</a:t>
            </a:r>
            <a:r>
              <a:rPr sz="2400" b="1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Driven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For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Soil</a:t>
            </a:r>
            <a:r>
              <a:rPr sz="2400" b="1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Health</a:t>
            </a:r>
            <a:r>
              <a:rPr sz="2400" b="1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Climate</a:t>
            </a:r>
            <a:r>
              <a:rPr sz="2400" b="1" spc="-1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Adaptive</a:t>
            </a:r>
            <a:r>
              <a:rPr sz="2400" b="1" spc="-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Irrigation</a:t>
            </a:r>
            <a:r>
              <a:rPr sz="2400" b="1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Network</a:t>
            </a:r>
            <a:r>
              <a:rPr sz="24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/>
                <a:cs typeface="Times New Roman"/>
              </a:rPr>
              <a:t>Using</a:t>
            </a:r>
            <a:r>
              <a:rPr sz="2400" b="1" spc="-20" dirty="0">
                <a:solidFill>
                  <a:srgbClr val="FF0000"/>
                </a:solidFill>
                <a:latin typeface="Times New Roman"/>
                <a:cs typeface="Times New Roman"/>
              </a:rPr>
              <a:t> Iot”</a:t>
            </a:r>
            <a:endParaRPr sz="2400" dirty="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28323"/>
              </p:ext>
            </p:extLst>
          </p:nvPr>
        </p:nvGraphicFramePr>
        <p:xfrm>
          <a:off x="631190" y="4417313"/>
          <a:ext cx="7570470" cy="1348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31750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800" b="1" spc="-70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b="1" spc="-35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Guidance</a:t>
                      </a:r>
                      <a:r>
                        <a:rPr sz="1800" b="1" spc="-40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0145">
                        <a:lnSpc>
                          <a:spcPts val="1964"/>
                        </a:lnSpc>
                      </a:pPr>
                      <a:r>
                        <a:rPr sz="1800" b="1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Presented</a:t>
                      </a:r>
                      <a:r>
                        <a:rPr sz="1800" b="1" spc="-105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548ED4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31750">
                        <a:lnSpc>
                          <a:spcPts val="205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Prof.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spc="-20" dirty="0">
                          <a:latin typeface="Times New Roman"/>
                          <a:cs typeface="Times New Roman"/>
                        </a:rPr>
                        <a:t>Mangala Biradar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4863" indent="0">
                        <a:lnSpc>
                          <a:spcPts val="205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1)</a:t>
                      </a:r>
                      <a:r>
                        <a:rPr lang="en-IN" sz="1800" spc="-35" dirty="0">
                          <a:latin typeface="Times New Roman"/>
                          <a:cs typeface="Times New Roman"/>
                        </a:rPr>
                        <a:t> Vijay </a:t>
                      </a:r>
                      <a:r>
                        <a:rPr lang="en-IN" sz="1800" spc="-35" dirty="0" err="1">
                          <a:latin typeface="Times New Roman"/>
                          <a:cs typeface="Times New Roman"/>
                        </a:rPr>
                        <a:t>Beldar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2050"/>
                        </a:lnSpc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B400960083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4863" indent="0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2)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800" spc="-10" dirty="0">
                          <a:latin typeface="Times New Roman"/>
                          <a:cs typeface="Times New Roman"/>
                        </a:rPr>
                        <a:t>Samyak Pandechari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B400960119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4863" indent="0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3)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Bhushan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Salve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ts val="2045"/>
                        </a:lnSpc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B400960130</a:t>
                      </a:r>
                      <a:r>
                        <a:rPr sz="18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4863" indent="0">
                        <a:lnSpc>
                          <a:spcPts val="1975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4)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Soham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Pawar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75"/>
                        </a:lnSpc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(B400960202</a:t>
                      </a:r>
                      <a:r>
                        <a:rPr lang="en-IN" sz="18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546429F-74FD-179B-1FF1-0F829EC4CD4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42973"/>
            <a:ext cx="8001000" cy="78311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755C1BA-11A1-FFFE-1C96-F191C3F3DCD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</a:t>
            </a:fld>
            <a:endParaRPr lang="en-IN"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80815" y="1092530"/>
            <a:ext cx="1181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Times New Roman"/>
                <a:cs typeface="Times New Roman"/>
              </a:rPr>
              <a:t>Index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66863" y="1727530"/>
            <a:ext cx="3167508" cy="450123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33985" indent="-121285">
              <a:lnSpc>
                <a:spcPct val="100000"/>
              </a:lnSpc>
              <a:spcBef>
                <a:spcPts val="10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Introduction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Project</a:t>
            </a:r>
            <a:endParaRPr sz="1600" dirty="0">
              <a:latin typeface="Times New Roman"/>
              <a:cs typeface="Times New Roman"/>
            </a:endParaRPr>
          </a:p>
          <a:p>
            <a:pPr marL="133985" indent="-121285">
              <a:lnSpc>
                <a:spcPct val="100000"/>
              </a:lnSpc>
              <a:spcBef>
                <a:spcPts val="965"/>
              </a:spcBef>
              <a:buFont typeface="Times New Roman"/>
              <a:buChar char="•"/>
              <a:tabLst>
                <a:tab pos="133985" algn="l"/>
              </a:tabLst>
            </a:pPr>
            <a:r>
              <a:rPr sz="1600" b="1" dirty="0">
                <a:latin typeface="Times New Roman"/>
                <a:cs typeface="Times New Roman"/>
              </a:rPr>
              <a:t>Project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Scope</a:t>
            </a:r>
            <a:endParaRPr sz="1600" dirty="0">
              <a:latin typeface="Times New Roman"/>
              <a:cs typeface="Times New Roman"/>
            </a:endParaRP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sz="1600" b="1" dirty="0">
                <a:latin typeface="Times New Roman"/>
                <a:cs typeface="Times New Roman"/>
              </a:rPr>
              <a:t>Problem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Statement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endParaRPr lang="en-US" sz="1600" b="1" spc="-20" dirty="0">
              <a:latin typeface="Times New Roman"/>
              <a:cs typeface="Times New Roman"/>
            </a:endParaRP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Objective</a:t>
            </a:r>
            <a:endParaRPr sz="1600" dirty="0">
              <a:latin typeface="Times New Roman"/>
              <a:cs typeface="Times New Roman"/>
            </a:endParaRP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sz="1600" b="1" dirty="0">
                <a:latin typeface="Times New Roman"/>
                <a:cs typeface="Times New Roman"/>
              </a:rPr>
              <a:t>Literature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Survey</a:t>
            </a:r>
            <a:endParaRPr sz="1600" dirty="0">
              <a:latin typeface="Times New Roman"/>
              <a:cs typeface="Times New Roman"/>
            </a:endParaRP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Hardware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Software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Requirements</a:t>
            </a:r>
            <a:endParaRPr sz="1600" dirty="0">
              <a:latin typeface="Times New Roman"/>
              <a:cs typeface="Times New Roman"/>
            </a:endParaRP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sz="1600" b="1" dirty="0">
                <a:latin typeface="Times New Roman"/>
                <a:cs typeface="Times New Roman"/>
              </a:rPr>
              <a:t>Project</a:t>
            </a:r>
            <a:r>
              <a:rPr sz="1600" b="1" spc="-7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Design</a:t>
            </a:r>
            <a:endParaRPr lang="en-IN" sz="1600" b="1" spc="-10" dirty="0">
              <a:latin typeface="Times New Roman"/>
              <a:cs typeface="Times New Roman"/>
            </a:endParaRPr>
          </a:p>
          <a:p>
            <a:pPr marL="123189" indent="-110489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23189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Algorithm</a:t>
            </a: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lang="en-US" sz="1600" b="1" dirty="0">
                <a:latin typeface="Times New Roman"/>
                <a:cs typeface="Times New Roman"/>
              </a:rPr>
              <a:t>Basic</a:t>
            </a:r>
            <a:r>
              <a:rPr lang="en-US" sz="1600" b="1" spc="-35" dirty="0">
                <a:latin typeface="Times New Roman"/>
                <a:cs typeface="Times New Roman"/>
              </a:rPr>
              <a:t> </a:t>
            </a:r>
            <a:r>
              <a:rPr lang="en-US" sz="1600" b="1" dirty="0">
                <a:latin typeface="Times New Roman"/>
                <a:cs typeface="Times New Roman"/>
              </a:rPr>
              <a:t>Details</a:t>
            </a:r>
            <a:r>
              <a:rPr lang="en-US" sz="1600" b="1" spc="-15" dirty="0">
                <a:latin typeface="Times New Roman"/>
                <a:cs typeface="Times New Roman"/>
              </a:rPr>
              <a:t> </a:t>
            </a:r>
            <a:r>
              <a:rPr lang="en-US" sz="1600" b="1" dirty="0">
                <a:latin typeface="Times New Roman"/>
                <a:cs typeface="Times New Roman"/>
              </a:rPr>
              <a:t>of</a:t>
            </a:r>
            <a:r>
              <a:rPr lang="en-US" sz="1600" b="1" spc="-35" dirty="0">
                <a:latin typeface="Times New Roman"/>
                <a:cs typeface="Times New Roman"/>
              </a:rPr>
              <a:t> </a:t>
            </a:r>
            <a:r>
              <a:rPr lang="en-US" sz="1600" b="1" spc="-10" dirty="0">
                <a:latin typeface="Times New Roman"/>
                <a:cs typeface="Times New Roman"/>
              </a:rPr>
              <a:t>Implementation</a:t>
            </a: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lang="en-US" sz="1600" b="1" dirty="0">
                <a:latin typeface="Times New Roman"/>
                <a:cs typeface="Times New Roman"/>
              </a:rPr>
              <a:t>Proposed</a:t>
            </a:r>
            <a:r>
              <a:rPr lang="en-US" sz="1600" b="1" spc="-100" dirty="0">
                <a:latin typeface="Times New Roman"/>
                <a:cs typeface="Times New Roman"/>
              </a:rPr>
              <a:t> </a:t>
            </a:r>
            <a:r>
              <a:rPr lang="en-US" sz="1600" b="1" spc="-10" dirty="0">
                <a:latin typeface="Times New Roman"/>
                <a:cs typeface="Times New Roman"/>
              </a:rPr>
              <a:t>Outputs</a:t>
            </a: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Advantages &amp; Disadvantages</a:t>
            </a:r>
          </a:p>
          <a:p>
            <a:pPr marL="133985" indent="-121285">
              <a:lnSpc>
                <a:spcPct val="100000"/>
              </a:lnSpc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Future Scope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EC8544A-906E-1255-B0CC-3E48D08DFA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077200" cy="28976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E0B49AF-EA29-1CF8-B19D-A292A8DABA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</a:t>
            </a:fld>
            <a:endParaRPr lang="en-IN" spc="-25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0CE378-6245-5C7A-2208-FDB1B59865F4}"/>
              </a:ext>
            </a:extLst>
          </p:cNvPr>
          <p:cNvSpPr txBox="1"/>
          <p:nvPr/>
        </p:nvSpPr>
        <p:spPr>
          <a:xfrm>
            <a:off x="4419600" y="1727682"/>
            <a:ext cx="2819400" cy="713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3985" indent="-121285"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Conclusion</a:t>
            </a:r>
          </a:p>
          <a:p>
            <a:pPr marL="133985" indent="-121285">
              <a:spcBef>
                <a:spcPts val="960"/>
              </a:spcBef>
              <a:buFont typeface="Times New Roman"/>
              <a:buChar char="•"/>
              <a:tabLst>
                <a:tab pos="133985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Reference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28663"/>
              <a:ext cx="1187449" cy="80803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12140" y="42163"/>
            <a:ext cx="7920355" cy="62388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 dirty="0">
              <a:latin typeface="Times New Roman"/>
              <a:cs typeface="Times New Roman"/>
            </a:endParaRPr>
          </a:p>
          <a:p>
            <a:pPr marL="74295"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7874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 dirty="0">
              <a:latin typeface="Times New Roman"/>
              <a:cs typeface="Times New Roman"/>
            </a:endParaRPr>
          </a:p>
          <a:p>
            <a:pPr marL="76835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000" spc="-10" dirty="0" err="1">
                <a:latin typeface="Times New Roman"/>
                <a:cs typeface="Times New Roman"/>
              </a:rPr>
              <a:t>Introductio</a:t>
            </a:r>
            <a:r>
              <a:rPr lang="en-IN" sz="4000" spc="-10" dirty="0">
                <a:latin typeface="Times New Roman"/>
                <a:cs typeface="Times New Roman"/>
              </a:rPr>
              <a:t>n</a:t>
            </a:r>
          </a:p>
          <a:p>
            <a:pPr algn="ctr">
              <a:lnSpc>
                <a:spcPct val="100000"/>
              </a:lnSpc>
            </a:pPr>
            <a:endParaRPr lang="en-US" sz="1600" spc="-10" dirty="0">
              <a:latin typeface="Times New Roman"/>
              <a:cs typeface="Times New Roman"/>
            </a:endParaRPr>
          </a:p>
          <a:p>
            <a:pPr marL="373380" marR="283210" indent="-285750" algn="l">
              <a:lnSpc>
                <a:spcPts val="288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Agriculture plays a vital role in the economy, but water scarcity and improper irrigation are major challenges.</a:t>
            </a:r>
          </a:p>
          <a:p>
            <a:pPr marL="373380" marR="283210" indent="-285750" algn="l">
              <a:lnSpc>
                <a:spcPts val="288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Traditional irrigation systems depend on manual control, leading to water wastage and inefficiency.</a:t>
            </a:r>
          </a:p>
          <a:p>
            <a:pPr marL="373380" marR="283210" indent="-285750" algn="l">
              <a:lnSpc>
                <a:spcPts val="288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The IoT-based Smart Irrigation System automates water distribution using real-time sensor data.</a:t>
            </a:r>
          </a:p>
          <a:p>
            <a:pPr marL="373380" marR="283210" indent="-285750" algn="l">
              <a:lnSpc>
                <a:spcPts val="288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The system ensures efficient water usage and reduces unnecessary irrigation.</a:t>
            </a:r>
          </a:p>
          <a:p>
            <a:pPr marL="373380" marR="283210" indent="-285750" algn="l">
              <a:lnSpc>
                <a:spcPts val="288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/>
                <a:cs typeface="Times New Roman"/>
              </a:rPr>
              <a:t>Key components include ESP32, ESP32-CAM, </a:t>
            </a:r>
            <a:r>
              <a:rPr lang="en-IN" sz="1600" dirty="0" err="1">
                <a:latin typeface="Times New Roman"/>
                <a:cs typeface="Times New Roman"/>
              </a:rPr>
              <a:t>NodeMCU</a:t>
            </a:r>
            <a:r>
              <a:rPr lang="en-IN" sz="1600" dirty="0">
                <a:latin typeface="Times New Roman"/>
                <a:cs typeface="Times New Roman"/>
              </a:rPr>
              <a:t>, DHT11, YL-83 rain sensor, and SEN6 soil moisture sensor.</a:t>
            </a:r>
          </a:p>
          <a:p>
            <a:pPr marL="373380" marR="283210" indent="-285750" algn="l">
              <a:lnSpc>
                <a:spcPts val="288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Data is transmitted through </a:t>
            </a:r>
            <a:r>
              <a:rPr lang="en-US" sz="1600" dirty="0" err="1">
                <a:latin typeface="Times New Roman"/>
                <a:cs typeface="Times New Roman"/>
              </a:rPr>
              <a:t>WiFi</a:t>
            </a:r>
            <a:r>
              <a:rPr lang="en-US" sz="1600" dirty="0">
                <a:latin typeface="Times New Roman"/>
                <a:cs typeface="Times New Roman"/>
              </a:rPr>
              <a:t> for real-time monitoring.</a:t>
            </a:r>
          </a:p>
          <a:p>
            <a:pPr marL="373380" marR="283210" indent="-285750" algn="l">
              <a:lnSpc>
                <a:spcPts val="288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/>
                <a:cs typeface="Times New Roman"/>
              </a:rPr>
              <a:t>A Telegram bot allows remote control and system status updates.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F2BDF2C-411A-6F00-4E57-0CD4F52CE79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0010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D8D8D-46A1-DA48-C651-2327A210E3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3</a:t>
            </a:fld>
            <a:endParaRPr lang="en-IN"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155442" y="1076655"/>
            <a:ext cx="28340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Times New Roman"/>
                <a:cs typeface="Times New Roman"/>
              </a:rPr>
              <a:t>Project</a:t>
            </a:r>
            <a:r>
              <a:rPr sz="4000" spc="-11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Scope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640" y="1854224"/>
            <a:ext cx="8246109" cy="452226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707390" marR="43116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atin typeface="Times New Roman"/>
                <a:cs typeface="Times New Roman"/>
              </a:rPr>
              <a:t>Automated Irrigation:</a:t>
            </a:r>
            <a:br>
              <a:rPr lang="en-US" sz="1600" dirty="0">
                <a:latin typeface="Times New Roman"/>
                <a:cs typeface="Times New Roman"/>
              </a:rPr>
            </a:br>
            <a:r>
              <a:rPr lang="en-US" sz="1600" dirty="0">
                <a:latin typeface="Times New Roman"/>
                <a:cs typeface="Times New Roman"/>
              </a:rPr>
              <a:t>The system automatically controls water supply based on real-time soil moisture, rain, and environmental conditions, ensuring efficient irrigation.</a:t>
            </a:r>
          </a:p>
          <a:p>
            <a:pPr marL="707390" marR="43116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atin typeface="Times New Roman"/>
                <a:cs typeface="Times New Roman"/>
              </a:rPr>
              <a:t>IoT-Based Monitoring:</a:t>
            </a:r>
            <a:br>
              <a:rPr lang="en-US" sz="1600" dirty="0">
                <a:latin typeface="Times New Roman"/>
                <a:cs typeface="Times New Roman"/>
              </a:rPr>
            </a:br>
            <a:r>
              <a:rPr lang="en-US" sz="1600" dirty="0">
                <a:latin typeface="Times New Roman"/>
                <a:cs typeface="Times New Roman"/>
              </a:rPr>
              <a:t>Farmers can monitor sensor data and control the irrigation system remotely using the Telegram application from anywhere.</a:t>
            </a:r>
          </a:p>
          <a:p>
            <a:pPr marL="707390" marR="43116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atin typeface="Times New Roman"/>
                <a:cs typeface="Times New Roman"/>
              </a:rPr>
              <a:t>Multi-Sensor Integration:</a:t>
            </a:r>
            <a:br>
              <a:rPr lang="en-US" sz="1600" dirty="0">
                <a:latin typeface="Times New Roman"/>
                <a:cs typeface="Times New Roman"/>
              </a:rPr>
            </a:br>
            <a:r>
              <a:rPr lang="en-US" sz="1600" dirty="0">
                <a:latin typeface="Times New Roman"/>
                <a:cs typeface="Times New Roman"/>
              </a:rPr>
              <a:t>The system uses soil moisture, temperature, humidity, and rain sensors to collect accurate field data for better decision-making.</a:t>
            </a:r>
          </a:p>
          <a:p>
            <a:pPr marL="707390" marR="431165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>
                <a:latin typeface="Times New Roman"/>
                <a:cs typeface="Times New Roman"/>
              </a:rPr>
              <a:t>Dual Mode Operation:</a:t>
            </a:r>
            <a:br>
              <a:rPr lang="en-US" sz="1600" dirty="0">
                <a:latin typeface="Times New Roman"/>
                <a:cs typeface="Times New Roman"/>
              </a:rPr>
            </a:br>
            <a:r>
              <a:rPr lang="en-US" sz="1600" dirty="0">
                <a:latin typeface="Times New Roman"/>
                <a:cs typeface="Times New Roman"/>
              </a:rPr>
              <a:t>The system supports both manual and automatic modes, allowing flexible control based on user requirements.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87D796B-3A19-0B7F-85E1-735698CB68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991600" cy="28976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74D76CD-8FA7-C00C-B333-CE4676BA74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4</a:t>
            </a:fld>
            <a:endParaRPr lang="en-IN"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1640" y="1785899"/>
            <a:ext cx="8028940" cy="3414268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707390" marR="431165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sz="1600" b="1" dirty="0">
                <a:latin typeface="Times New Roman"/>
                <a:cs typeface="Times New Roman"/>
              </a:rPr>
              <a:t>Wireless Communication:</a:t>
            </a:r>
            <a:br>
              <a:rPr lang="en-US" sz="1600" dirty="0">
                <a:latin typeface="Times New Roman"/>
                <a:cs typeface="Times New Roman"/>
              </a:rPr>
            </a:br>
            <a:r>
              <a:rPr lang="en-US" sz="1600" dirty="0">
                <a:latin typeface="Times New Roman"/>
                <a:cs typeface="Times New Roman"/>
              </a:rPr>
              <a:t>All components communicate using </a:t>
            </a:r>
            <a:r>
              <a:rPr lang="en-US" sz="1600" dirty="0" err="1">
                <a:latin typeface="Times New Roman"/>
                <a:cs typeface="Times New Roman"/>
              </a:rPr>
              <a:t>WiFi</a:t>
            </a:r>
            <a:r>
              <a:rPr lang="en-US" sz="1600" dirty="0">
                <a:latin typeface="Times New Roman"/>
                <a:cs typeface="Times New Roman"/>
              </a:rPr>
              <a:t>, reducing wiring complexity and enabling real-time data transfer.</a:t>
            </a:r>
          </a:p>
          <a:p>
            <a:pPr marL="707390" marR="431165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sz="1600" b="1" dirty="0">
                <a:latin typeface="Times New Roman"/>
                <a:cs typeface="Times New Roman"/>
              </a:rPr>
              <a:t>Scalable Design:</a:t>
            </a:r>
            <a:br>
              <a:rPr lang="en-US" sz="1600" dirty="0">
                <a:latin typeface="Times New Roman"/>
                <a:cs typeface="Times New Roman"/>
              </a:rPr>
            </a:br>
            <a:r>
              <a:rPr lang="en-US" sz="1600" dirty="0">
                <a:latin typeface="Times New Roman"/>
                <a:cs typeface="Times New Roman"/>
              </a:rPr>
              <a:t>The system can be expanded to multiple farms by adding additional sensors and controller modules.</a:t>
            </a:r>
          </a:p>
          <a:p>
            <a:pPr marL="707390" marR="431165" indent="-342900">
              <a:lnSpc>
                <a:spcPct val="150000"/>
              </a:lnSpc>
              <a:buFont typeface="+mj-lt"/>
              <a:buAutoNum type="arabicPeriod" startAt="5"/>
            </a:pPr>
            <a:r>
              <a:rPr lang="en-US" sz="1600" b="1" dirty="0">
                <a:latin typeface="Times New Roman"/>
                <a:cs typeface="Times New Roman"/>
              </a:rPr>
              <a:t>Cost-Effective Solution:</a:t>
            </a:r>
            <a:br>
              <a:rPr lang="en-US" sz="1600" dirty="0">
                <a:latin typeface="Times New Roman"/>
                <a:cs typeface="Times New Roman"/>
              </a:rPr>
            </a:br>
            <a:r>
              <a:rPr lang="en-US" sz="1600" dirty="0">
                <a:latin typeface="Times New Roman"/>
                <a:cs typeface="Times New Roman"/>
              </a:rPr>
              <a:t>The use of affordable components makes the system suitable for small and medium-scale farmers.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1CFE819-C824-2DEE-B095-147F525E163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82296" y="6407144"/>
            <a:ext cx="7924800" cy="322269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6BDDD5-1B25-12AB-AEB8-F9BC646EC4F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5</a:t>
            </a:fld>
            <a:endParaRPr lang="en-IN"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28663"/>
              <a:ext cx="1187449" cy="808037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83540" y="42163"/>
            <a:ext cx="8375015" cy="2282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 dirty="0">
              <a:latin typeface="Times New Roman"/>
              <a:cs typeface="Times New Roman"/>
            </a:endParaRPr>
          </a:p>
          <a:p>
            <a:pPr marL="77470"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8128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 dirty="0">
              <a:latin typeface="Times New Roman"/>
              <a:cs typeface="Times New Roman"/>
            </a:endParaRPr>
          </a:p>
          <a:p>
            <a:pPr marL="8001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76200" algn="ctr">
              <a:lnSpc>
                <a:spcPct val="100000"/>
              </a:lnSpc>
              <a:spcBef>
                <a:spcPts val="5"/>
              </a:spcBef>
            </a:pPr>
            <a:r>
              <a:rPr sz="4000" dirty="0">
                <a:latin typeface="Times New Roman"/>
                <a:cs typeface="Times New Roman"/>
              </a:rPr>
              <a:t>Problem</a:t>
            </a:r>
            <a:r>
              <a:rPr sz="4000" spc="-13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Statement</a:t>
            </a:r>
            <a:endParaRPr sz="40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470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ESP32-Driven System For Soil Health And Climate Adaptive Irrigation Network Using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9B393E7-C603-559D-3571-89533D28C4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74952"/>
            <a:ext cx="82296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AF90B1-CE1F-3EDC-EED3-351ADCEA3A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6</a:t>
            </a:fld>
            <a:endParaRPr lang="en-IN"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EAB3-0141-BB4E-9FDC-0AB13C391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AF97F6-7C78-9DD8-E150-F035149C9FEC}"/>
              </a:ext>
            </a:extLst>
          </p:cNvPr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5F85DA0-50B6-A4F0-9911-A4A8F551CDB8}"/>
              </a:ext>
            </a:extLst>
          </p:cNvPr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489CF17-390B-1B01-B60A-2D45FC6E3FC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8323374B-681C-F30D-05F4-85833E14EB2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F706282-3FF5-DD47-17F3-139944A3CEAB}"/>
                </a:ext>
              </a:extLst>
            </p:cNvPr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1B70BBB-59A6-E075-91A7-EF9A969E575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28663"/>
              <a:ext cx="1187449" cy="808037"/>
            </a:xfrm>
            <a:prstGeom prst="rect">
              <a:avLst/>
            </a:prstGeom>
          </p:spPr>
        </p:pic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82E05C7-5A7F-B7E3-33BE-B6537290592D}"/>
              </a:ext>
            </a:extLst>
          </p:cNvPr>
          <p:cNvSpPr txBox="1"/>
          <p:nvPr/>
        </p:nvSpPr>
        <p:spPr>
          <a:xfrm>
            <a:off x="383540" y="42163"/>
            <a:ext cx="8375015" cy="4805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 dirty="0">
              <a:latin typeface="Times New Roman"/>
              <a:cs typeface="Times New Roman"/>
            </a:endParaRPr>
          </a:p>
          <a:p>
            <a:pPr marL="77470"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8128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 dirty="0">
              <a:latin typeface="Times New Roman"/>
              <a:cs typeface="Times New Roman"/>
            </a:endParaRPr>
          </a:p>
          <a:p>
            <a:pPr marL="8001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76200" algn="ctr">
              <a:lnSpc>
                <a:spcPct val="100000"/>
              </a:lnSpc>
              <a:spcBef>
                <a:spcPts val="5"/>
              </a:spcBef>
            </a:pPr>
            <a:r>
              <a:rPr lang="en-US" sz="4000" dirty="0">
                <a:latin typeface="Times New Roman"/>
                <a:cs typeface="Times New Roman"/>
              </a:rPr>
              <a:t>Objective</a:t>
            </a:r>
            <a:endParaRPr sz="4000" dirty="0">
              <a:latin typeface="Times New Roman"/>
              <a:cs typeface="Times New Roman"/>
            </a:endParaRPr>
          </a:p>
          <a:p>
            <a:endParaRPr lang="en-IN" sz="1800" dirty="0"/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To design an IoT-based smart irrigation system that monitors soil moisture, temperature, and humidity in real-time.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To automatically control water supply using a 5V water pump and solenoid valve based on sensor                readings.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To enable remote monitoring and manual control of irrigation through the Telegram bot.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To optimize water usage and prevent over-irrigation, promoting sustainable agriculture practices.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▪ To provide a cost-effective and scalable solution for efficient soil and crop management in modern farming. </a:t>
            </a:r>
          </a:p>
          <a:p>
            <a:endParaRPr lang="en-IN" sz="1800" dirty="0"/>
          </a:p>
          <a:p>
            <a:pPr marL="12700" marR="5080">
              <a:lnSpc>
                <a:spcPct val="150000"/>
              </a:lnSpc>
              <a:spcBef>
                <a:spcPts val="470"/>
              </a:spcBef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CDB5427-F9CF-AEA2-1704-CD80DD684D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74952"/>
            <a:ext cx="82296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5D66CB-64B8-3B09-BF03-7FEB7F289C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7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67556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714561" y="936688"/>
            <a:ext cx="35947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Literature</a:t>
            </a:r>
            <a:r>
              <a:rPr sz="4000" u="sng" spc="-1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Survey</a:t>
            </a:r>
            <a:endParaRPr sz="4000" dirty="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983618"/>
              </p:ext>
            </p:extLst>
          </p:nvPr>
        </p:nvGraphicFramePr>
        <p:xfrm>
          <a:off x="137922" y="1571688"/>
          <a:ext cx="8929878" cy="46996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2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94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43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1524">
                  <a:extLst>
                    <a:ext uri="{9D8B030D-6E8A-4147-A177-3AD203B41FA5}">
                      <a16:colId xmlns:a16="http://schemas.microsoft.com/office/drawing/2014/main" val="710568210"/>
                    </a:ext>
                  </a:extLst>
                </a:gridCol>
              </a:tblGrid>
              <a:tr h="456834"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16205">
                        <a:lnSpc>
                          <a:spcPct val="100000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Author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1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Year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0238" indent="0" algn="l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100" b="1" dirty="0">
                          <a:latin typeface="Times New Roman"/>
                          <a:cs typeface="Times New Roman"/>
                        </a:rPr>
                        <a:t>Title</a:t>
                      </a: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1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US" sz="1100" b="1" spc="-10" dirty="0">
                          <a:latin typeface="Times New Roman"/>
                          <a:cs typeface="Times New Roman"/>
                        </a:rPr>
                        <a:t>Publication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4863" indent="0" algn="l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lang="en-US" sz="1100" b="1" dirty="0">
                          <a:latin typeface="Times New Roman"/>
                          <a:cs typeface="Times New Roman"/>
                        </a:rPr>
                        <a:t>        Methods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5113" indent="0" algn="l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Limitation</a:t>
                      </a:r>
                    </a:p>
                  </a:txBody>
                  <a:tcPr marL="0" marR="0" marT="161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0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56565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A. Sharma et al. (2025)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08305" indent="0" algn="l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YL-83 Rain Sensor for Smart Irrigation Systems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670560" indent="0" algn="l">
                        <a:lnSpc>
                          <a:spcPct val="100000"/>
                        </a:lnSpc>
                        <a:spcBef>
                          <a:spcPts val="1520"/>
                        </a:spcBef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unnecessary irrigation and water wastage.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only the presence of rain and cannot accurately measure rainfall intensity.</a:t>
                      </a:r>
                    </a:p>
                  </a:txBody>
                  <a:tcPr marL="0" marR="0" marT="193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67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Zvinodashe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Feresu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 (2022) 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10489" indent="0" algn="l">
                        <a:lnSpc>
                          <a:spcPct val="100000"/>
                        </a:lnSpc>
                        <a:spcBef>
                          <a:spcPts val="1160"/>
                        </a:spcBef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DHT11 Temperature and Humidity Sensor for IoT Monitoring Systems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7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92075" indent="0" algn="l">
                        <a:lnSpc>
                          <a:spcPct val="100000"/>
                        </a:lnSpc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Measures temperature and humidity in real time.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limited measurement accuracy and a slower response compared to advanced sensors.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3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L. Yu et al. (2021) 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7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560"/>
                        </a:spcBef>
                        <a:tabLst>
                          <a:tab pos="0" algn="l"/>
                        </a:tabLst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Robodo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SEN6 Soil Moisture Sensor for Smart Irrigation Systems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automated irrigation based on soil conditions.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 readings may vary due to soil type and require periodic calibration.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06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Espressif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Systems (2021) 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ESP32-CAM Module for IoT-Based Monitoring Systems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real-time images for remote field monitoring.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quality depends on lighting conditions and stable 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connectivity.</a:t>
                      </a:r>
                      <a:endParaRPr lang="en-IN" sz="11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06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Espressif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Systems (2020) 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ESP32 Microcontroller for IoT-Based Systems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for controlling multiple sensors and devices.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GPIO pins and processing resources for large-scale IoT applications.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22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72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7313" marR="10795" indent="0" algn="l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Espressif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Systems (2019) 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lang="en-IN" sz="11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NodeMCU</a:t>
                      </a:r>
                      <a:r>
                        <a:rPr lang="en-IN" sz="1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(ESP8266) for IoT-Based Automation Systems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1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indent="0" algn="l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built-in </a:t>
                      </a:r>
                      <a:r>
                        <a:rPr lang="en-US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connectivity for IoT communication.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only 2.4 GHz </a:t>
                      </a:r>
                      <a:r>
                        <a:rPr lang="en-IN" sz="11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has limited memory for complex applications.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ECD824A-B82E-5766-5062-9E4919A3636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570212" cy="28976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284174D-2AFC-4A3E-634A-7EE16413506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8</a:t>
            </a:fld>
            <a:endParaRPr lang="en-IN"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77164" y="1031240"/>
            <a:ext cx="7763509" cy="1144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6294">
              <a:lnSpc>
                <a:spcPct val="100000"/>
              </a:lnSpc>
              <a:spcBef>
                <a:spcPts val="95"/>
              </a:spcBef>
            </a:pP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Hardware</a:t>
            </a:r>
            <a:r>
              <a:rPr sz="4000" u="sng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Software</a:t>
            </a:r>
            <a:r>
              <a:rPr sz="4000" u="sng" spc="-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Requirements</a:t>
            </a:r>
            <a:endParaRPr sz="4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161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Developer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Side: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7163" y="2162327"/>
            <a:ext cx="8040673" cy="421397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812800" indent="-342900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 for sensor interfacing and system control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Laptop/PC for coding, testing, and debugging</a:t>
            </a: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 for programming ESP32 and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 API for remote communication and control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1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latin typeface="Times New Roman"/>
                <a:cs typeface="Times New Roman"/>
              </a:rPr>
              <a:t>Client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Side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(Field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Setup):</a:t>
            </a:r>
            <a:endParaRPr sz="2000" dirty="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Sensor for monitoring soil water levels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 for temperature and humidity measurement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Pump for irrigation control and water distribution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App for remote monitoring and control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Network for real-time communication and connectivity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12800" lvl="1" indent="-34290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812800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Firmware for sensor data processing and automation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5EE63FF-CF39-7B5D-6757-4A690638386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241636" cy="31039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63386A6-5AA8-DA6D-F81C-39FEF8BFB9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9</a:t>
            </a:fld>
            <a:endParaRPr lang="en-IN"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56382" y="1076655"/>
            <a:ext cx="3031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Project</a:t>
            </a:r>
            <a:r>
              <a:rPr sz="4000" u="sng" spc="-1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Design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65275" y="1809750"/>
            <a:ext cx="6013450" cy="4013200"/>
          </a:xfrm>
          <a:custGeom>
            <a:avLst/>
            <a:gdLst/>
            <a:ahLst/>
            <a:cxnLst/>
            <a:rect l="l" t="t" r="r" b="b"/>
            <a:pathLst>
              <a:path w="6013450" h="4013200">
                <a:moveTo>
                  <a:pt x="0" y="4013200"/>
                </a:moveTo>
                <a:lnTo>
                  <a:pt x="6013450" y="4013200"/>
                </a:lnTo>
                <a:lnTo>
                  <a:pt x="6013450" y="0"/>
                </a:lnTo>
                <a:lnTo>
                  <a:pt x="0" y="0"/>
                </a:lnTo>
                <a:lnTo>
                  <a:pt x="0" y="40132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0B165F4-1B08-045C-8818-71AC174FA1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762" y="1981200"/>
            <a:ext cx="5216475" cy="3712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01AFE8-5ED2-8C58-D8F9-C7A4FF4DBA21}"/>
              </a:ext>
            </a:extLst>
          </p:cNvPr>
          <p:cNvSpPr txBox="1"/>
          <p:nvPr/>
        </p:nvSpPr>
        <p:spPr>
          <a:xfrm>
            <a:off x="3704614" y="5974238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 Project Architecture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E789D95-1DF7-ED1B-50FC-AC48288B8F0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73006"/>
            <a:ext cx="8311133" cy="30422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337D40-E023-19A3-5BC8-3295016B479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10</a:t>
            </a:fld>
            <a:endParaRPr lang="en-IN"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7F3370-054A-7853-0E90-8F72EDBD48C3}"/>
              </a:ext>
            </a:extLst>
          </p:cNvPr>
          <p:cNvSpPr txBox="1"/>
          <p:nvPr/>
        </p:nvSpPr>
        <p:spPr>
          <a:xfrm>
            <a:off x="381000" y="1524000"/>
            <a:ext cx="8229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(Farmer):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farmer remotely monitors and controls the irrigation system using the Telegram bot.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 Interface (Frontend):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Telegram bot acts as the user interface for sending commands and receiving updates.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(Main Controller &amp; Backend Logic):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ESP32 processes sensor data and controls overall system operations.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(Camera):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ESP32-CAM captures real-time images of the agricultural field for monitoring.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Module (ESP32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sensor module collects environmental data such as soil moisture, temperature, humidity, and rainfall.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(Pump P1):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controls the first water pump using a relay module.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(Pump P2):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controls the second water pump for irrigation management.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Sensors, DHT11, Rain Sensor: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sensors provide real-time environmental and soil condition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Module Pump Control: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relay modules switch the water pumps ON or OFF based on system commands.</a:t>
            </a:r>
          </a:p>
        </p:txBody>
      </p:sp>
      <p:pic>
        <p:nvPicPr>
          <p:cNvPr id="5" name="object 8">
            <a:extLst>
              <a:ext uri="{FF2B5EF4-FFF2-40B4-BE49-F238E27FC236}">
                <a16:creationId xmlns:a16="http://schemas.microsoft.com/office/drawing/2014/main" id="{D9091337-441F-A420-4664-55E39AC753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A4B500-01BD-9871-88ED-2958E09DAB62}"/>
              </a:ext>
            </a:extLst>
          </p:cNvPr>
          <p:cNvSpPr txBox="1"/>
          <p:nvPr/>
        </p:nvSpPr>
        <p:spPr>
          <a:xfrm>
            <a:off x="1371600" y="113554"/>
            <a:ext cx="6400800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ACD924-7983-1D42-6A77-CE1AE18C4E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25732" y="6433304"/>
            <a:ext cx="8494012" cy="28976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CF5C5-06A4-14B5-6ABC-CAB35E2A16A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11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516894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48AEE2-F069-B1EF-0436-9B589FA491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77"/>
          <a:stretch/>
        </p:blipFill>
        <p:spPr bwMode="auto">
          <a:xfrm>
            <a:off x="823416" y="1447800"/>
            <a:ext cx="7497168" cy="4724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object 8">
            <a:extLst>
              <a:ext uri="{FF2B5EF4-FFF2-40B4-BE49-F238E27FC236}">
                <a16:creationId xmlns:a16="http://schemas.microsoft.com/office/drawing/2014/main" id="{15B2E137-9ED8-08DD-894A-91CCABB812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009A64-4B69-9EB6-8BF9-5959AD40999D}"/>
              </a:ext>
            </a:extLst>
          </p:cNvPr>
          <p:cNvSpPr txBox="1"/>
          <p:nvPr/>
        </p:nvSpPr>
        <p:spPr>
          <a:xfrm>
            <a:off x="1554708" y="113554"/>
            <a:ext cx="6034584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3CE54-A479-C50C-084E-FE7D68086F10}"/>
              </a:ext>
            </a:extLst>
          </p:cNvPr>
          <p:cNvSpPr txBox="1"/>
          <p:nvPr/>
        </p:nvSpPr>
        <p:spPr>
          <a:xfrm>
            <a:off x="3581400" y="6059983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 Data Flow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2F1E846-E341-36F9-8F9E-2B13386981C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5"/>
            <a:ext cx="8244384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7152F6-9F51-53F2-9E58-4A170113FA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12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90668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A0A3A-3C57-BC14-5647-891356217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2DE39-2B9A-1F8A-0DCE-23A2DB6D323D}"/>
              </a:ext>
            </a:extLst>
          </p:cNvPr>
          <p:cNvSpPr txBox="1"/>
          <p:nvPr/>
        </p:nvSpPr>
        <p:spPr>
          <a:xfrm>
            <a:off x="228600" y="1524000"/>
            <a:ext cx="8686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(Farmer):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farmer sends commands and monitors the irrigation system remotely using the Telegram bot.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Commands are used to control pumps and switch between manual and automatic modes.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Request: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can request real-time field images through the Telegram bot.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Request: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can check sensor readings and pump status at any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Telegram bot acts as the communication interface between the user and the IoT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Commands: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Telegram bot sends user commands to the IoT irrigation system for processing.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Irrigation System: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IoT system processes sensor data and controls irrigation operations automatically.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Photo Capture: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captures field images using the ESP32-CAM module when requested. </a:t>
            </a:r>
          </a:p>
        </p:txBody>
      </p:sp>
      <p:pic>
        <p:nvPicPr>
          <p:cNvPr id="3" name="object 8">
            <a:extLst>
              <a:ext uri="{FF2B5EF4-FFF2-40B4-BE49-F238E27FC236}">
                <a16:creationId xmlns:a16="http://schemas.microsoft.com/office/drawing/2014/main" id="{0DD94EDE-3634-C43B-CDB1-176348F436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32719E-40FC-BF3F-B3D0-3799A794F9FF}"/>
              </a:ext>
            </a:extLst>
          </p:cNvPr>
          <p:cNvSpPr txBox="1"/>
          <p:nvPr/>
        </p:nvSpPr>
        <p:spPr>
          <a:xfrm>
            <a:off x="1524000" y="113554"/>
            <a:ext cx="6096000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E0812-4772-9D78-E489-446DD80D3C8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52400" y="6461823"/>
            <a:ext cx="81534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6CEED8-5B6F-641C-DE9C-69286DA9AB1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13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111608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3C2AA6-0E11-AB0D-807E-BB15ACD211DE}"/>
              </a:ext>
            </a:extLst>
          </p:cNvPr>
          <p:cNvSpPr txBox="1"/>
          <p:nvPr/>
        </p:nvSpPr>
        <p:spPr>
          <a:xfrm>
            <a:off x="228600" y="1330607"/>
            <a:ext cx="8686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Update: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readings are continuously updated and sent to the Telegram bot.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Control: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controls water pumps through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relay modules.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ESP32-CAM captures and sends real-time field images for monitoring.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outputs such as pump status, sensor readings, and captured images.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 Status: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whether the water pump is ON or OFF.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soil moisture, temperature, humidity, and rain sensor values. 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Captured Image: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real-time image of the agricultural field for remote monitoring.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8">
            <a:extLst>
              <a:ext uri="{FF2B5EF4-FFF2-40B4-BE49-F238E27FC236}">
                <a16:creationId xmlns:a16="http://schemas.microsoft.com/office/drawing/2014/main" id="{5AF4A0A3-E2F2-2E96-F94C-7985459952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895AAF-E5E2-E895-6A0B-14160EEA8671}"/>
              </a:ext>
            </a:extLst>
          </p:cNvPr>
          <p:cNvSpPr txBox="1"/>
          <p:nvPr/>
        </p:nvSpPr>
        <p:spPr>
          <a:xfrm>
            <a:off x="1562100" y="113554"/>
            <a:ext cx="6019800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E31B0-D699-B2B2-5BAA-ADDEBB13D6F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52400" y="6433304"/>
            <a:ext cx="7965945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F0B66-6DC3-88C3-9FE4-389DB2A28A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14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3115311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52386-D5B9-21CA-EB7A-F9759161A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8">
            <a:extLst>
              <a:ext uri="{FF2B5EF4-FFF2-40B4-BE49-F238E27FC236}">
                <a16:creationId xmlns:a16="http://schemas.microsoft.com/office/drawing/2014/main" id="{E8EFD1FE-29FE-484F-5792-7DC462A97D0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DA9CF8-137D-79CC-8279-B6E1D3A4A547}"/>
              </a:ext>
            </a:extLst>
          </p:cNvPr>
          <p:cNvSpPr txBox="1"/>
          <p:nvPr/>
        </p:nvSpPr>
        <p:spPr>
          <a:xfrm>
            <a:off x="1562100" y="113554"/>
            <a:ext cx="6019800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D39F2-9A9F-220B-D10A-BE428DFCC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318577"/>
            <a:ext cx="7189764" cy="4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1DDD38-E7CF-ADAC-F8AB-9AE1EB11D5DF}"/>
              </a:ext>
            </a:extLst>
          </p:cNvPr>
          <p:cNvSpPr txBox="1"/>
          <p:nvPr/>
        </p:nvSpPr>
        <p:spPr>
          <a:xfrm>
            <a:off x="3794383" y="6082773"/>
            <a:ext cx="15552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Fig.3 ER diagram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065B221-A93F-1E49-4179-9AB014863DD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52400" y="6463773"/>
            <a:ext cx="8104164" cy="307777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79C44-8573-AFE2-2160-0D192D85DE0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15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129631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8441F-58E3-F022-E3F8-24C5323A6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8">
            <a:extLst>
              <a:ext uri="{FF2B5EF4-FFF2-40B4-BE49-F238E27FC236}">
                <a16:creationId xmlns:a16="http://schemas.microsoft.com/office/drawing/2014/main" id="{6E32FE68-21BB-70C7-81D6-3FA01567D6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39E94C-4434-9B62-F733-BAC98400F9F3}"/>
              </a:ext>
            </a:extLst>
          </p:cNvPr>
          <p:cNvSpPr txBox="1"/>
          <p:nvPr/>
        </p:nvSpPr>
        <p:spPr>
          <a:xfrm>
            <a:off x="1562100" y="113554"/>
            <a:ext cx="6019800" cy="915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8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8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8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4B4E0-76B7-7A16-5742-141B13F74E28}"/>
              </a:ext>
            </a:extLst>
          </p:cNvPr>
          <p:cNvSpPr txBox="1"/>
          <p:nvPr/>
        </p:nvSpPr>
        <p:spPr>
          <a:xfrm>
            <a:off x="266700" y="1260350"/>
            <a:ext cx="8610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(Farmer)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5113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interacts with the system through the Telegram bot to control and monitor irrigation.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Telegram Bot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5113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an interface that receives user commands and sends system responses.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(Main Controller)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5113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sensor data and manages overall system operations and decision-making.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Module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5113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environmental data such as soil moisture, temperature, humidity, and rainfall.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(Motor Control)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5113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water pumps using relay modules based on commands from ESP32.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5113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real-time images of the field and sends them to the user.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65113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system results including pump status, sensor readings, and captured images.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CD1EFA0-8851-3014-6DEA-6842FF194EA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52400" y="6433305"/>
            <a:ext cx="80772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A90CF-DB7A-3952-093B-9AFCD824E4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16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65337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97122" y="1083310"/>
            <a:ext cx="2142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Times New Roman"/>
                <a:cs typeface="Times New Roman"/>
              </a:rPr>
              <a:t>Algorithm</a:t>
            </a:r>
            <a:endParaRPr sz="40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540" y="1895627"/>
            <a:ext cx="8274050" cy="4485843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60"/>
              </a:spcBef>
              <a:buAutoNum type="arabicPeriod"/>
              <a:tabLst>
                <a:tab pos="35496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Sensor Data</a:t>
            </a:r>
            <a:r>
              <a:rPr lang="en-IN" sz="1600" b="1" spc="-10" dirty="0">
                <a:latin typeface="Times New Roman"/>
                <a:cs typeface="Times New Roman"/>
              </a:rPr>
              <a:t>:</a:t>
            </a:r>
            <a:endParaRPr lang="en-IN" sz="1600" dirty="0">
              <a:latin typeface="Times New Roman"/>
              <a:cs typeface="Times New Roman"/>
            </a:endParaRPr>
          </a:p>
          <a:p>
            <a:pPr marL="659130" marR="311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soil moisture values from both farms </a:t>
            </a:r>
          </a:p>
          <a:p>
            <a:pPr marL="659130" marR="311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temperature and humidity using DHT11 </a:t>
            </a:r>
          </a:p>
          <a:p>
            <a:pPr marL="659130" marR="311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rainfall using rain sensor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lvl="2" indent="-201295">
              <a:spcBef>
                <a:spcPts val="960"/>
              </a:spcBef>
              <a:buAutoNum type="arabicPeriod" startAt="2"/>
              <a:tabLst>
                <a:tab pos="213995" algn="l"/>
              </a:tabLst>
            </a:pPr>
            <a:r>
              <a:rPr lang="en-US" sz="1600" b="1" dirty="0">
                <a:latin typeface="Times New Roman"/>
                <a:cs typeface="Times New Roman"/>
              </a:rPr>
              <a:t>  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Irrigation Conditions</a:t>
            </a:r>
            <a:r>
              <a:rPr sz="1600" b="1" spc="-10" dirty="0">
                <a:latin typeface="Times New Roman"/>
                <a:cs typeface="Times New Roman"/>
              </a:rPr>
              <a:t>:</a:t>
            </a:r>
            <a:endParaRPr sz="1600" dirty="0">
              <a:latin typeface="Times New Roman"/>
              <a:cs typeface="Times New Roman"/>
            </a:endParaRPr>
          </a:p>
          <a:p>
            <a:pPr marL="659130" indent="-2857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soil moisture with threshold values </a:t>
            </a:r>
          </a:p>
          <a:p>
            <a:pPr marL="659130" indent="-2857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rain status and environmental conditions </a:t>
            </a:r>
          </a:p>
          <a:p>
            <a:pPr marL="659130" indent="-2857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Decide whether irrigation is required or not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01295">
              <a:lnSpc>
                <a:spcPct val="100000"/>
              </a:lnSpc>
              <a:spcBef>
                <a:spcPts val="960"/>
              </a:spcBef>
              <a:buAutoNum type="arabicPeriod" startAt="3"/>
              <a:tabLst>
                <a:tab pos="213995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Pump Control</a:t>
            </a:r>
            <a:r>
              <a:rPr sz="1600" b="1" spc="-10" dirty="0">
                <a:latin typeface="Times New Roman"/>
                <a:cs typeface="Times New Roman"/>
              </a:rPr>
              <a:t>:</a:t>
            </a:r>
            <a:endParaRPr sz="1600" dirty="0">
              <a:latin typeface="Times New Roman"/>
              <a:cs typeface="Times New Roman"/>
            </a:endParaRPr>
          </a:p>
          <a:p>
            <a:pPr marL="659130" lvl="1" indent="-2857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  <a:tabLst>
                <a:tab pos="65849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sends ON/OFF commands to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 </a:t>
            </a:r>
          </a:p>
          <a:p>
            <a:pPr marL="659130" lvl="1" indent="-2857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  <a:tabLst>
                <a:tab pos="65849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Relay modules control water pumps automatically </a:t>
            </a:r>
          </a:p>
          <a:p>
            <a:pPr marL="659130" lvl="1" indent="-285750">
              <a:lnSpc>
                <a:spcPct val="100000"/>
              </a:lnSpc>
              <a:spcBef>
                <a:spcPts val="960"/>
              </a:spcBef>
              <a:buFont typeface="Arial" panose="020B0604020202020204" pitchFamily="34" charset="0"/>
              <a:buChar char="•"/>
              <a:tabLst>
                <a:tab pos="65849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Pumps operate based on sensor conditions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CD2C66-9474-6D01-FB7C-522A28FB0A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09728" y="6433304"/>
            <a:ext cx="8153400" cy="30422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4F7253E-9686-8FD2-B6C9-BD9FEF9103F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17</a:t>
            </a:fld>
            <a:endParaRPr lang="en-IN"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25369" y="122681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 dirty="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3540" y="1411376"/>
            <a:ext cx="8327390" cy="4126771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060"/>
              </a:spcBef>
              <a:buAutoNum type="arabicPeriod" startAt="4"/>
              <a:tabLst>
                <a:tab pos="203200" algn="l"/>
              </a:tabLst>
            </a:pPr>
            <a:r>
              <a:rPr lang="en-US" sz="1600" b="1" spc="-10" dirty="0">
                <a:latin typeface="Times New Roman"/>
                <a:cs typeface="Times New Roman"/>
              </a:rPr>
              <a:t>  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Control via Telegram Bot</a:t>
            </a:r>
            <a:r>
              <a:rPr sz="1600" b="1" spc="-10" dirty="0">
                <a:latin typeface="Times New Roman"/>
                <a:cs typeface="Times New Roman"/>
              </a:rPr>
              <a:t>:</a:t>
            </a:r>
            <a:endParaRPr sz="1600" dirty="0">
              <a:latin typeface="Times New Roman"/>
              <a:cs typeface="Times New Roman"/>
            </a:endParaRPr>
          </a:p>
          <a:p>
            <a:pPr marL="659130" marR="54673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sends commands through Telegram bot </a:t>
            </a:r>
          </a:p>
          <a:p>
            <a:pPr marL="659130" marR="54673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mode overrides automatic operation </a:t>
            </a:r>
          </a:p>
          <a:p>
            <a:pPr marL="659130" marR="54673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Pumps can be controlled remotely in real time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buAutoNum type="arabicPeriod" startAt="5"/>
              <a:tabLst>
                <a:tab pos="213995" algn="l"/>
              </a:tabLst>
            </a:pPr>
            <a:r>
              <a:rPr lang="en-US" sz="1600" b="1" dirty="0">
                <a:latin typeface="Times New Roman"/>
                <a:cs typeface="Times New Roman"/>
              </a:rPr>
              <a:t>  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Status Updates</a:t>
            </a:r>
            <a:r>
              <a:rPr sz="1600" b="1" spc="-10" dirty="0">
                <a:latin typeface="Times New Roman"/>
                <a:cs typeface="Times New Roman"/>
              </a:rPr>
              <a:t>:</a:t>
            </a:r>
            <a:endParaRPr sz="1600" dirty="0">
              <a:latin typeface="Times New Roman"/>
              <a:cs typeface="Times New Roman"/>
            </a:endParaRPr>
          </a:p>
          <a:p>
            <a:pPr marL="659130" marR="508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sensor readings and motor status to user </a:t>
            </a:r>
          </a:p>
          <a:p>
            <a:pPr marL="659130" marR="508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notifications through Telegram </a:t>
            </a:r>
          </a:p>
          <a:p>
            <a:pPr marL="659130" marR="508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sends field images when requested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13995" algn="l"/>
              </a:tabLst>
            </a:pP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3BF520E-B50A-6990-F738-90D5AF51148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66832"/>
            <a:ext cx="8077200" cy="232085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92A843-7326-C3B5-F4A4-6C55E375147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18</a:t>
            </a:fld>
            <a:endParaRPr lang="en-IN"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3251"/>
            <a:ext cx="1371599" cy="9334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7840" y="1081786"/>
            <a:ext cx="8118475" cy="444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6605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Times New Roman"/>
                <a:cs typeface="Times New Roman"/>
              </a:rPr>
              <a:t>Basic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Details</a:t>
            </a:r>
            <a:r>
              <a:rPr sz="4000" spc="-80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of</a:t>
            </a:r>
            <a:r>
              <a:rPr sz="4000" spc="-8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Implementation</a:t>
            </a:r>
            <a:endParaRPr sz="4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110"/>
              </a:spcBef>
              <a:buAutoNum type="arabicPeriod"/>
              <a:tabLst>
                <a:tab pos="354965" algn="l"/>
              </a:tabLst>
            </a:pPr>
            <a:r>
              <a:rPr sz="1600" b="1" dirty="0">
                <a:latin typeface="Times New Roman"/>
                <a:cs typeface="Times New Roman"/>
              </a:rPr>
              <a:t>ESP32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as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Core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Controller:</a:t>
            </a:r>
            <a:endParaRPr sz="1600" dirty="0">
              <a:latin typeface="Times New Roman"/>
              <a:cs typeface="Times New Roman"/>
            </a:endParaRPr>
          </a:p>
          <a:p>
            <a:pPr marL="373380" marR="139065" indent="-9525">
              <a:lnSpc>
                <a:spcPct val="150000"/>
              </a:lnSpc>
              <a:spcBef>
                <a:spcPts val="385"/>
              </a:spcBef>
            </a:pPr>
            <a:r>
              <a:rPr sz="1600" dirty="0">
                <a:latin typeface="Times New Roman"/>
                <a:cs typeface="Times New Roman"/>
              </a:rPr>
              <a:t>ESP32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manages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sensors,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relay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modules,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IoT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communication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through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lang="en-US" sz="1600" spc="-40" dirty="0">
                <a:latin typeface="Times New Roman"/>
                <a:cs typeface="Times New Roman"/>
              </a:rPr>
              <a:t>Telegram Bot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for </a:t>
            </a:r>
            <a:r>
              <a:rPr sz="1600" spc="-1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 monitoring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control.</a:t>
            </a:r>
            <a:endParaRPr sz="1600" dirty="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spcBef>
                <a:spcPts val="1345"/>
              </a:spcBef>
              <a:buAutoNum type="arabicPeriod" startAt="2"/>
              <a:tabLst>
                <a:tab pos="213995" algn="l"/>
              </a:tabLst>
            </a:pPr>
            <a:r>
              <a:rPr sz="1600" b="1" dirty="0">
                <a:latin typeface="Times New Roman"/>
                <a:cs typeface="Times New Roman"/>
              </a:rPr>
              <a:t>Sensor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Integration:</a:t>
            </a:r>
            <a:endParaRPr sz="1600" dirty="0">
              <a:latin typeface="Times New Roman"/>
              <a:cs typeface="Times New Roman"/>
            </a:endParaRPr>
          </a:p>
          <a:p>
            <a:pPr marL="373380" marR="5080" indent="-9525">
              <a:lnSpc>
                <a:spcPct val="150000"/>
              </a:lnSpc>
              <a:spcBef>
                <a:spcPts val="385"/>
              </a:spcBef>
            </a:pPr>
            <a:r>
              <a:rPr sz="1600" dirty="0">
                <a:latin typeface="Times New Roman"/>
                <a:cs typeface="Times New Roman"/>
              </a:rPr>
              <a:t>Soil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Moisture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(SEN6),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Rain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(YL-</a:t>
            </a:r>
            <a:r>
              <a:rPr sz="1600" dirty="0">
                <a:latin typeface="Times New Roman"/>
                <a:cs typeface="Times New Roman"/>
              </a:rPr>
              <a:t>83),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DHT11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sensors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continuously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collect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soil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climate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guide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irrigation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decisions.</a:t>
            </a:r>
            <a:endParaRPr sz="1600" dirty="0">
              <a:latin typeface="Times New Roman"/>
              <a:cs typeface="Times New Roman"/>
            </a:endParaRPr>
          </a:p>
          <a:p>
            <a:pPr marL="203200" indent="-190500">
              <a:lnSpc>
                <a:spcPct val="100000"/>
              </a:lnSpc>
              <a:spcBef>
                <a:spcPts val="1345"/>
              </a:spcBef>
              <a:buAutoNum type="arabicPeriod" startAt="3"/>
              <a:tabLst>
                <a:tab pos="203200" algn="l"/>
              </a:tabLst>
            </a:pPr>
            <a:r>
              <a:rPr sz="1600" b="1" dirty="0">
                <a:latin typeface="Times New Roman"/>
                <a:cs typeface="Times New Roman"/>
              </a:rPr>
              <a:t>Automated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Irrigation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Control:</a:t>
            </a:r>
            <a:endParaRPr sz="1600" dirty="0">
              <a:latin typeface="Times New Roman"/>
              <a:cs typeface="Times New Roman"/>
            </a:endParaRPr>
          </a:p>
          <a:p>
            <a:pPr marL="373380" marR="514350" indent="-9525">
              <a:lnSpc>
                <a:spcPct val="150200"/>
              </a:lnSpc>
              <a:spcBef>
                <a:spcPts val="380"/>
              </a:spcBef>
            </a:pPr>
            <a:r>
              <a:rPr sz="1600" dirty="0">
                <a:latin typeface="Times New Roman"/>
                <a:cs typeface="Times New Roman"/>
              </a:rPr>
              <a:t>Relay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module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activates 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5V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water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pump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solenoid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valve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based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sensor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readings, </a:t>
            </a:r>
            <a:r>
              <a:rPr sz="1600" dirty="0">
                <a:latin typeface="Times New Roman"/>
                <a:cs typeface="Times New Roman"/>
              </a:rPr>
              <a:t>ensuring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precise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water-</a:t>
            </a:r>
            <a:r>
              <a:rPr sz="1600" dirty="0">
                <a:latin typeface="Times New Roman"/>
                <a:cs typeface="Times New Roman"/>
              </a:rPr>
              <a:t>efficient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irrigation.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E027CE2-FB39-766D-32F9-7325428130D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78087"/>
            <a:ext cx="8001000" cy="133143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D922B1B-2FE0-FB01-23A2-0291DC4204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19</a:t>
            </a:fld>
            <a:endParaRPr lang="en-IN"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3251"/>
            <a:ext cx="1371599" cy="9334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7840" y="1724405"/>
            <a:ext cx="8203565" cy="343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indent="-201295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213995" algn="l"/>
              </a:tabLst>
            </a:pPr>
            <a:r>
              <a:rPr sz="1600" b="1" dirty="0">
                <a:latin typeface="Times New Roman"/>
                <a:cs typeface="Times New Roman"/>
              </a:rPr>
              <a:t>IoT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Cloud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Connectivity:</a:t>
            </a:r>
            <a:endParaRPr sz="1600" dirty="0">
              <a:latin typeface="Times New Roman"/>
              <a:cs typeface="Times New Roman"/>
            </a:endParaRPr>
          </a:p>
          <a:p>
            <a:pPr marL="373380" marR="435609">
              <a:lnSpc>
                <a:spcPct val="150000"/>
              </a:lnSpc>
              <a:spcBef>
                <a:spcPts val="385"/>
              </a:spcBef>
            </a:pPr>
            <a:r>
              <a:rPr lang="en-US" sz="1600" spc="-40" dirty="0">
                <a:latin typeface="Times New Roman"/>
                <a:cs typeface="Times New Roman"/>
              </a:rPr>
              <a:t>Telegram 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displays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live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sensor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allows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users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monitor,</a:t>
            </a:r>
            <a:r>
              <a:rPr sz="1600" dirty="0">
                <a:latin typeface="Times New Roman"/>
                <a:cs typeface="Times New Roman"/>
              </a:rPr>
              <a:t> control,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receive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alerts </a:t>
            </a:r>
            <a:r>
              <a:rPr sz="1600" dirty="0">
                <a:latin typeface="Times New Roman"/>
                <a:cs typeface="Times New Roman"/>
              </a:rPr>
              <a:t>remotely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anywhere.</a:t>
            </a:r>
            <a:endParaRPr sz="1600" dirty="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spcBef>
                <a:spcPts val="1345"/>
              </a:spcBef>
              <a:buAutoNum type="arabicPeriod" startAt="5"/>
              <a:tabLst>
                <a:tab pos="213995" algn="l"/>
              </a:tabLst>
            </a:pPr>
            <a:r>
              <a:rPr sz="1600" b="1" dirty="0">
                <a:latin typeface="Times New Roman"/>
                <a:cs typeface="Times New Roman"/>
              </a:rPr>
              <a:t>Smart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Decision</a:t>
            </a:r>
            <a:r>
              <a:rPr sz="1600" b="1" spc="-4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Logic:</a:t>
            </a:r>
            <a:endParaRPr sz="1600" dirty="0">
              <a:latin typeface="Times New Roman"/>
              <a:cs typeface="Times New Roman"/>
            </a:endParaRPr>
          </a:p>
          <a:p>
            <a:pPr marL="373380" marR="290195">
              <a:lnSpc>
                <a:spcPct val="150000"/>
              </a:lnSpc>
              <a:spcBef>
                <a:spcPts val="385"/>
              </a:spcBef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compares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real-</a:t>
            </a:r>
            <a:r>
              <a:rPr sz="1600" dirty="0">
                <a:latin typeface="Times New Roman"/>
                <a:cs typeface="Times New Roman"/>
              </a:rPr>
              <a:t>time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soil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weather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preset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thresholds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automatically </a:t>
            </a:r>
            <a:r>
              <a:rPr sz="1600" dirty="0">
                <a:latin typeface="Times New Roman"/>
                <a:cs typeface="Times New Roman"/>
              </a:rPr>
              <a:t>start 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stop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irrigation.</a:t>
            </a:r>
            <a:endParaRPr sz="1600" dirty="0">
              <a:latin typeface="Times New Roman"/>
              <a:cs typeface="Times New Roman"/>
            </a:endParaRPr>
          </a:p>
          <a:p>
            <a:pPr marL="213995" indent="-201295">
              <a:lnSpc>
                <a:spcPct val="100000"/>
              </a:lnSpc>
              <a:spcBef>
                <a:spcPts val="1345"/>
              </a:spcBef>
              <a:buAutoNum type="arabicPeriod" startAt="6"/>
              <a:tabLst>
                <a:tab pos="213995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Fail-</a:t>
            </a:r>
            <a:r>
              <a:rPr sz="1600" b="1" dirty="0">
                <a:latin typeface="Times New Roman"/>
                <a:cs typeface="Times New Roman"/>
              </a:rPr>
              <a:t>Safe</a:t>
            </a:r>
            <a:r>
              <a:rPr sz="1600" b="1" spc="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and</a:t>
            </a:r>
            <a:r>
              <a:rPr sz="1600" b="1" spc="-2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Power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Efficiency:</a:t>
            </a:r>
            <a:endParaRPr sz="1600" dirty="0">
              <a:latin typeface="Times New Roman"/>
              <a:cs typeface="Times New Roman"/>
            </a:endParaRPr>
          </a:p>
          <a:p>
            <a:pPr marL="373380" marR="5080">
              <a:lnSpc>
                <a:spcPct val="150000"/>
              </a:lnSpc>
              <a:spcBef>
                <a:spcPts val="385"/>
              </a:spcBef>
            </a:pPr>
            <a:r>
              <a:rPr sz="1600" dirty="0">
                <a:latin typeface="Times New Roman"/>
                <a:cs typeface="Times New Roman"/>
              </a:rPr>
              <a:t>Operates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40" dirty="0">
                <a:latin typeface="Times New Roman"/>
                <a:cs typeface="Times New Roman"/>
              </a:rPr>
              <a:t>Wi-</a:t>
            </a:r>
            <a:r>
              <a:rPr sz="1600" dirty="0">
                <a:latin typeface="Times New Roman"/>
                <a:cs typeface="Times New Roman"/>
              </a:rPr>
              <a:t>Fi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disconnects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enters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low-</a:t>
            </a:r>
            <a:r>
              <a:rPr sz="1600" dirty="0">
                <a:latin typeface="Times New Roman"/>
                <a:cs typeface="Times New Roman"/>
              </a:rPr>
              <a:t>power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mode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during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stable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conditions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save </a:t>
            </a:r>
            <a:r>
              <a:rPr sz="1600" spc="-10" dirty="0">
                <a:latin typeface="Times New Roman"/>
                <a:cs typeface="Times New Roman"/>
              </a:rPr>
              <a:t>energy.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3C3F30-6332-08E6-61B3-D590A944DC8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5"/>
            <a:ext cx="80772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AB2697F-B21C-F960-2418-0057E7158E6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20</a:t>
            </a:fld>
            <a:endParaRPr lang="en-IN"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 dirty="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 dirty="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76200"/>
            <a:ext cx="1371599" cy="96050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97046" y="1286078"/>
            <a:ext cx="2024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Times New Roman"/>
                <a:cs typeface="Times New Roman"/>
              </a:rPr>
              <a:t>OUTPUT</a:t>
            </a:r>
            <a:endParaRPr sz="4000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55E7FC-847F-9420-DEE6-D330A853681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80" y="2140355"/>
            <a:ext cx="4909820" cy="3682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B4BD0EC-23A6-AC56-81E8-2E5395D470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676" y="2133600"/>
            <a:ext cx="2181658" cy="3667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40E339E-0A41-D067-22A3-636F0FA4F140}"/>
              </a:ext>
            </a:extLst>
          </p:cNvPr>
          <p:cNvSpPr txBox="1"/>
          <p:nvPr/>
        </p:nvSpPr>
        <p:spPr>
          <a:xfrm>
            <a:off x="1338272" y="5825651"/>
            <a:ext cx="26244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Fig.4 Project Deployment Setup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279626-573C-66AE-C065-F317A1099F98}"/>
              </a:ext>
            </a:extLst>
          </p:cNvPr>
          <p:cNvSpPr txBox="1"/>
          <p:nvPr/>
        </p:nvSpPr>
        <p:spPr>
          <a:xfrm>
            <a:off x="5832803" y="5822720"/>
            <a:ext cx="29274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Fig.5 Telegram Operating Interface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A7ED694-FB0C-4186-65AE-EEFC75D88A1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41160"/>
            <a:ext cx="80772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D9647B7-0ED6-368D-B3C8-22D61B7A81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21</a:t>
            </a:fld>
            <a:endParaRPr lang="en-IN"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8">
            <a:extLst>
              <a:ext uri="{FF2B5EF4-FFF2-40B4-BE49-F238E27FC236}">
                <a16:creationId xmlns:a16="http://schemas.microsoft.com/office/drawing/2014/main" id="{EE5CC880-F140-8940-EFF4-48899DE417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8B2A10-556F-1961-54B1-7C02927C3654}"/>
              </a:ext>
            </a:extLst>
          </p:cNvPr>
          <p:cNvSpPr txBox="1"/>
          <p:nvPr/>
        </p:nvSpPr>
        <p:spPr>
          <a:xfrm>
            <a:off x="1905000" y="114965"/>
            <a:ext cx="58674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4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27C33D-0FBD-8A8B-ACBF-F1D92FF794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9"/>
          <a:stretch/>
        </p:blipFill>
        <p:spPr bwMode="auto">
          <a:xfrm>
            <a:off x="685799" y="1244963"/>
            <a:ext cx="4847918" cy="43877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CDD1B6-45AC-4160-4BA6-630AA80A33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606" y="1085850"/>
            <a:ext cx="2449195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2FEBFC-0155-40A2-62AA-A712BD97EA16}"/>
              </a:ext>
            </a:extLst>
          </p:cNvPr>
          <p:cNvSpPr txBox="1"/>
          <p:nvPr/>
        </p:nvSpPr>
        <p:spPr>
          <a:xfrm>
            <a:off x="2336950" y="5772148"/>
            <a:ext cx="1545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Fig.6 Rain Sensor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C60DC-08CF-DC4D-970D-293278A6EC3C}"/>
              </a:ext>
            </a:extLst>
          </p:cNvPr>
          <p:cNvSpPr txBox="1"/>
          <p:nvPr/>
        </p:nvSpPr>
        <p:spPr>
          <a:xfrm>
            <a:off x="6329234" y="5772147"/>
            <a:ext cx="1503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Fig.7 Rain Status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31473-B117-CFBD-3C73-031A334EC81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52400" y="6433304"/>
            <a:ext cx="8077200" cy="307777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E2466D-66B3-CD76-5CF2-F42873551FD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22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416728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8">
            <a:extLst>
              <a:ext uri="{FF2B5EF4-FFF2-40B4-BE49-F238E27FC236}">
                <a16:creationId xmlns:a16="http://schemas.microsoft.com/office/drawing/2014/main" id="{8FFD8392-6B1C-F7FD-E0C8-A8462B2305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62F3BE-1A44-7173-B848-C056E62CE9E3}"/>
              </a:ext>
            </a:extLst>
          </p:cNvPr>
          <p:cNvSpPr txBox="1"/>
          <p:nvPr/>
        </p:nvSpPr>
        <p:spPr>
          <a:xfrm>
            <a:off x="2171700" y="114965"/>
            <a:ext cx="48006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4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CED71E-1E17-4984-908F-8382DE0F8E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09" y="1828800"/>
            <a:ext cx="4774361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24B476-1CB1-86F1-9DA1-F2F13CDE10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745" y="1295400"/>
            <a:ext cx="2704056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1C2C44-6EF7-CB4F-47CD-948FD9BEFF40}"/>
              </a:ext>
            </a:extLst>
          </p:cNvPr>
          <p:cNvSpPr txBox="1"/>
          <p:nvPr/>
        </p:nvSpPr>
        <p:spPr>
          <a:xfrm>
            <a:off x="1340592" y="5542084"/>
            <a:ext cx="3348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Fig.8 Temperature And Humidity Sensor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5C0E4-33CA-FEED-E950-750AF7781D9F}"/>
              </a:ext>
            </a:extLst>
          </p:cNvPr>
          <p:cNvSpPr txBox="1"/>
          <p:nvPr/>
        </p:nvSpPr>
        <p:spPr>
          <a:xfrm>
            <a:off x="5318642" y="5542083"/>
            <a:ext cx="3307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Fig.9 Temperature And Humidity Status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B45CAB-583E-09B5-AEA3-372864DD7D5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152400" y="6433304"/>
            <a:ext cx="80010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6E124-5F93-9F3F-0B65-A88550193D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23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1090808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6A2E54-BC24-A5F0-E9D3-333CB62AA1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8" y="1447799"/>
            <a:ext cx="3810001" cy="421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42CEDE-67F5-4241-9F95-887D74810C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409699"/>
            <a:ext cx="2590800" cy="4257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object 8">
            <a:extLst>
              <a:ext uri="{FF2B5EF4-FFF2-40B4-BE49-F238E27FC236}">
                <a16:creationId xmlns:a16="http://schemas.microsoft.com/office/drawing/2014/main" id="{CDABC90C-BAFB-BFC1-4AC5-BD92AE17C2A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6200"/>
            <a:ext cx="1371599" cy="99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703E88-D726-3F30-6175-160A02B22DB3}"/>
              </a:ext>
            </a:extLst>
          </p:cNvPr>
          <p:cNvSpPr txBox="1"/>
          <p:nvPr/>
        </p:nvSpPr>
        <p:spPr>
          <a:xfrm>
            <a:off x="2171700" y="114965"/>
            <a:ext cx="480060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" marR="0" lvl="0" indent="0" algn="ctr" defTabSz="914400" eaLnBrk="1" fontAlgn="auto" latinLnBrk="0" hangingPunct="1">
              <a:lnSpc>
                <a:spcPts val="16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1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SRES’s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SHREE</a:t>
            </a:r>
            <a:r>
              <a:rPr kumimoji="0" lang="en-US" sz="1400" b="1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RAMCHANDRA</a:t>
            </a:r>
            <a:r>
              <a:rPr kumimoji="0" 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COLLEGE</a:t>
            </a:r>
            <a:r>
              <a:rPr kumimoji="0" lang="en-US" sz="14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400" b="1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3810" marR="0" lvl="0" indent="0" algn="ctr" defTabSz="914400" eaLnBrk="1" fontAlgn="auto" latinLnBrk="0" hangingPunct="1">
              <a:lnSpc>
                <a:spcPts val="15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Lonikand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,</a:t>
            </a:r>
            <a:r>
              <a:rPr kumimoji="0" lang="en-US" sz="14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Pune</a:t>
            </a:r>
            <a:r>
              <a:rPr kumimoji="0" lang="en-US" sz="14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–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412216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  <a:p>
            <a:pPr marL="2540" marR="0" lvl="0" indent="0" algn="ctr" defTabSz="914400" eaLnBrk="1" fontAlgn="auto" latinLnBrk="0" hangingPunct="1">
              <a:lnSpc>
                <a:spcPts val="163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Department</a:t>
            </a:r>
            <a:r>
              <a:rPr kumimoji="0" lang="en-US" sz="1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kumimoji="0" lang="en-US" sz="14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Computer</a:t>
            </a:r>
            <a:r>
              <a:rPr kumimoji="0" lang="en-US" sz="14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US" sz="14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cs typeface="Times New Roman"/>
              </a:rPr>
              <a:t>Engineering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451E4-0EC1-0559-7653-A65A3AA89448}"/>
              </a:ext>
            </a:extLst>
          </p:cNvPr>
          <p:cNvSpPr txBox="1"/>
          <p:nvPr/>
        </p:nvSpPr>
        <p:spPr>
          <a:xfrm>
            <a:off x="1531052" y="5794119"/>
            <a:ext cx="22092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Fig.10 Esp-32 Cam Sensor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FC357-87BC-F554-6FD4-EAB7550BEDD8}"/>
              </a:ext>
            </a:extLst>
          </p:cNvPr>
          <p:cNvSpPr txBox="1"/>
          <p:nvPr/>
        </p:nvSpPr>
        <p:spPr>
          <a:xfrm>
            <a:off x="6095297" y="5794119"/>
            <a:ext cx="18437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Fig.11 Camera Status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54FC3-5955-A27B-D43B-7D28E34A62E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0772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BBAC9-17E4-84B0-5E7F-B2A3CF5B03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24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37625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C960C-4D6B-C034-1862-EE4FB0595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9555F9-616A-8061-4924-0F24E65C0D56}"/>
              </a:ext>
            </a:extLst>
          </p:cNvPr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E8E223C-3445-C4D3-41A6-C77299BF98E4}"/>
              </a:ext>
            </a:extLst>
          </p:cNvPr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59E5A03-A0B3-A5FF-8121-A57211778B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D87BA5B3-C068-9242-6B45-2B549C484A3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8FC1C96-81BA-C8AD-B951-89CEECEE876B}"/>
                </a:ext>
              </a:extLst>
            </p:cNvPr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6DAC013F-1A7D-0763-71BC-4D7A5C5A8A3C}"/>
              </a:ext>
            </a:extLst>
          </p:cNvPr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41B3264E-62FF-22E6-B6C0-07C36DC6732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3251"/>
            <a:ext cx="1371599" cy="933450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CB4ECB6D-7428-B517-7826-0D3AEBA04C50}"/>
              </a:ext>
            </a:extLst>
          </p:cNvPr>
          <p:cNvSpPr txBox="1"/>
          <p:nvPr/>
        </p:nvSpPr>
        <p:spPr>
          <a:xfrm>
            <a:off x="508063" y="1074801"/>
            <a:ext cx="8203565" cy="5564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213995" algn="l"/>
              </a:tabLst>
            </a:pPr>
            <a:r>
              <a:rPr lang="en-US" sz="4000" dirty="0">
                <a:latin typeface="Times New Roman"/>
                <a:cs typeface="Times New Roman"/>
              </a:rPr>
              <a:t>ADVANTAGES &amp; DISADVANTAGES</a:t>
            </a:r>
            <a:endParaRPr lang="en-US" sz="16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automatic irrigation based on real-time soil and climate conditions.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water wastage and improves water management efficiency.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remote monitoring and control through the Telegram bot.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field images and environmental data for better decision-making.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stable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internet connectivity for proper operation.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readings may be affected by environmental conditions and calibration errors.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and configuration require technical knowledge.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depends on continuous power supply availability.</a:t>
            </a:r>
          </a:p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213995" algn="l"/>
              </a:tabLst>
            </a:pP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953590D-93A6-3EE3-DC65-6FB12ACDDC0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72475"/>
            <a:ext cx="8001000" cy="296109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01AD0-D477-E092-B39B-CEFBB6F5E6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25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767534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61253-986B-F8DA-4EE6-6E4504C03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54B6E9-F8C3-4A9E-70A4-612909401592}"/>
              </a:ext>
            </a:extLst>
          </p:cNvPr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F5E4FEC-E83C-698B-8719-49D2463BCA42}"/>
              </a:ext>
            </a:extLst>
          </p:cNvPr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351208B-0A1E-B8C9-EDCB-A5715E7E11F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17021F1-7836-DFDA-68A6-7F3E3F16FB7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7F31724-8404-8E93-7197-D6C1D7CC5771}"/>
                </a:ext>
              </a:extLst>
            </p:cNvPr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CF75801B-BD4C-2240-4A18-B30DBC351C79}"/>
              </a:ext>
            </a:extLst>
          </p:cNvPr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5B125F3B-EB58-08B6-488A-F3B7E337E40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103251"/>
            <a:ext cx="1371599" cy="933450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E3942046-6000-46A5-9FE6-5AE1B25A5CB5}"/>
              </a:ext>
            </a:extLst>
          </p:cNvPr>
          <p:cNvSpPr txBox="1"/>
          <p:nvPr/>
        </p:nvSpPr>
        <p:spPr>
          <a:xfrm>
            <a:off x="508063" y="1074801"/>
            <a:ext cx="8203565" cy="42047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213995" algn="l"/>
              </a:tabLst>
            </a:pPr>
            <a:r>
              <a:rPr lang="en-US" sz="4000" dirty="0">
                <a:latin typeface="Times New Roman"/>
                <a:cs typeface="Times New Roman"/>
              </a:rPr>
              <a:t>FUTURE SCOPE</a:t>
            </a:r>
          </a:p>
          <a:p>
            <a:pPr marL="12700" algn="ctr">
              <a:lnSpc>
                <a:spcPct val="100000"/>
              </a:lnSpc>
              <a:spcBef>
                <a:spcPts val="95"/>
              </a:spcBef>
              <a:tabLst>
                <a:tab pos="213995" algn="l"/>
              </a:tabLst>
            </a:pPr>
            <a:endParaRPr lang="en-US" sz="1600" dirty="0">
              <a:latin typeface="Times New Roman"/>
              <a:cs typeface="Times New Roman"/>
            </a:endParaRPr>
          </a:p>
          <a:p>
            <a:pPr marL="298450" indent="-285750" algn="l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1399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 Storage and Analytics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can be stored on cloud platforms for long-term monitoring, analysis, and crop performance prediction.</a:t>
            </a:r>
          </a:p>
          <a:p>
            <a:pPr marL="298450" indent="-285750" algn="l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1399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Solar-Powered Irrigation System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panels can be integrated to power ESP32 modules, sensors, and water pumps. This will reduce electricity costs and make the system environmentally friendly.</a:t>
            </a:r>
          </a:p>
          <a:p>
            <a:pPr marL="298450" indent="-285750" algn="l">
              <a:lnSpc>
                <a:spcPct val="150000"/>
              </a:lnSpc>
              <a:spcBef>
                <a:spcPts val="95"/>
              </a:spcBef>
              <a:buFont typeface="Arial" panose="020B0604020202020204" pitchFamily="34" charset="0"/>
              <a:buChar char="•"/>
              <a:tabLst>
                <a:tab pos="213995" algn="l"/>
              </a:tabLst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Water Level Protection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water level sensor can automatically stop the motor when the storage tank is empty, preventing pump damage and saving energy.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66661FF-98FA-C67B-3049-6CE812C1619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203565" cy="2439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E49CC6-C5C7-DB44-D41B-23156769B0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26</a:t>
            </a:fld>
            <a:endParaRPr lang="en-IN" spc="-25" dirty="0"/>
          </a:p>
        </p:txBody>
      </p:sp>
    </p:spTree>
    <p:extLst>
      <p:ext uri="{BB962C8B-B14F-4D97-AF65-F5344CB8AC3E}">
        <p14:creationId xmlns:p14="http://schemas.microsoft.com/office/powerpoint/2010/main" val="2243378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3251"/>
              <a:ext cx="1371599" cy="9334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35940" y="42163"/>
            <a:ext cx="8047990" cy="4608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96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 dirty="0">
              <a:latin typeface="Times New Roman"/>
              <a:cs typeface="Times New Roman"/>
            </a:endParaRPr>
          </a:p>
          <a:p>
            <a:pPr marL="99060"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 marL="103505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 dirty="0">
              <a:latin typeface="Times New Roman"/>
              <a:cs typeface="Times New Roman"/>
            </a:endParaRPr>
          </a:p>
          <a:p>
            <a:pPr marL="10160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24130" algn="ctr">
              <a:lnSpc>
                <a:spcPct val="100000"/>
              </a:lnSpc>
            </a:pPr>
            <a:r>
              <a:rPr sz="2800" b="1" spc="-10" dirty="0">
                <a:latin typeface="Times New Roman"/>
                <a:cs typeface="Times New Roman"/>
              </a:rPr>
              <a:t>CONCLUSION</a:t>
            </a:r>
            <a:endParaRPr lang="en-IN" sz="2800" b="1" spc="-1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IoT-based smart irrigation system improves water management using real-time sensor monitoring and automation. </a:t>
            </a:r>
          </a:p>
          <a:p>
            <a:pPr marL="299085" indent="-28638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and Telegram integration enable remote monitoring and efficient pump control. </a:t>
            </a:r>
          </a:p>
          <a:p>
            <a:pPr marL="299085" indent="-28638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water wastage, human effort, and operational costs. </a:t>
            </a:r>
          </a:p>
          <a:p>
            <a:pPr marL="299085" indent="-28638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sustainable farming and improves irrigation efficiency. </a:t>
            </a:r>
          </a:p>
          <a:p>
            <a:pPr marL="299085" indent="-286385">
              <a:lnSpc>
                <a:spcPct val="100000"/>
              </a:lnSpc>
              <a:spcBef>
                <a:spcPts val="2220"/>
              </a:spcBef>
              <a:buFont typeface="Arial MT"/>
              <a:buChar char="•"/>
              <a:tabLst>
                <a:tab pos="29908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provides a reliable, scalable, and cost-effective smart agriculture solution.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1B2F6E-B24A-D4BE-90F3-063F58B4B5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25703"/>
            <a:ext cx="7924800" cy="320158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5CDA945-86B0-A445-A4C2-FC2786F766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27</a:t>
            </a:fld>
            <a:endParaRPr lang="en-IN"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0" dirty="0">
                <a:latin typeface="Times New Roman"/>
                <a:cs typeface="Times New Roman"/>
              </a:rPr>
              <a:t> 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3251"/>
            <a:ext cx="1371599" cy="9334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66846" y="1186053"/>
            <a:ext cx="22123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/>
                <a:cs typeface="Times New Roman"/>
              </a:rPr>
              <a:t>REFERENCE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140" y="1810362"/>
            <a:ext cx="7888605" cy="4032514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r>
              <a:rPr lang="en-IN" sz="1800" b="1" dirty="0"/>
              <a:t> </a:t>
            </a:r>
            <a:endParaRPr lang="en-IN" sz="1800" dirty="0"/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Yu, L., Gao, W., &amp;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Shamshiri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R. (2021). Review of Research Progress on Soil Moisture Sensor Technology. International Journal of Agricultural and Biological Engineering (IJABE).</a:t>
            </a: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A., et al. (2025). YL-83 Rain Detection Sensor Module for IoT Applications. International Journal of Advanced Research in Science, Communication and Technology.</a:t>
            </a: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Feresu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Z.,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Mashonjowa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&amp;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Matandirotya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 (2022). Performance Evaluation of DHT11 Temperature and Humidity Sensor for IoT Weather Systems. Journal of Electrical Engineering &amp; Electronic Technology.</a:t>
            </a: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Systems. (2020). ESP32 Microcontroller – Technical Overview and IoT Applications.</a:t>
            </a: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Systems. (2019).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NodeMCU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(ESP8266) Development Board – Technical Reference.</a:t>
            </a:r>
          </a:p>
          <a:p>
            <a:pPr marL="342900" indent="-342900">
              <a:buFont typeface="+mj-lt"/>
              <a:buAutoNum type="arabicPeriod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Systems. (2021). ESP32-CAM Module – Camera-Based IoT System Datasheet</a:t>
            </a:r>
          </a:p>
          <a:p>
            <a:pPr marL="355600" indent="-342900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55600" algn="l"/>
              </a:tabLst>
            </a:pPr>
            <a:endParaRPr sz="1600" dirty="0">
              <a:latin typeface="Calibri"/>
              <a:cs typeface="Calibri"/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2AEFBBE-6BB1-BC6B-1A6F-7B081647DC0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5"/>
            <a:ext cx="8077200" cy="21145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FC03103-481A-4AC6-27CA-3EB204A665C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28</a:t>
            </a:fld>
            <a:endParaRPr lang="en-IN"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50617" y="87755"/>
            <a:ext cx="4918710" cy="907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70"/>
              </a:lnSpc>
            </a:pPr>
            <a:r>
              <a:rPr sz="1100" spc="-10" dirty="0">
                <a:latin typeface="Cambria"/>
                <a:cs typeface="Cambria"/>
              </a:rPr>
              <a:t>JSPM’s</a:t>
            </a:r>
            <a:endParaRPr sz="1100">
              <a:latin typeface="Cambria"/>
              <a:cs typeface="Cambria"/>
            </a:endParaRPr>
          </a:p>
          <a:p>
            <a:pPr marL="635" algn="ctr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Cambria"/>
                <a:cs typeface="Cambria"/>
              </a:rPr>
              <a:t>Imperial</a:t>
            </a:r>
            <a:r>
              <a:rPr sz="1200" b="1" spc="-3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College</a:t>
            </a:r>
            <a:r>
              <a:rPr sz="1200" b="1" spc="-1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10" dirty="0">
                <a:latin typeface="Cambria"/>
                <a:cs typeface="Cambria"/>
              </a:rPr>
              <a:t> Research,Wagholi,Pune.</a:t>
            </a:r>
            <a:endParaRPr sz="12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sz="900" b="1" i="1" dirty="0">
                <a:latin typeface="Cambria"/>
                <a:cs typeface="Cambria"/>
              </a:rPr>
              <a:t>(Approved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by</a:t>
            </a:r>
            <a:r>
              <a:rPr sz="900" b="1" i="1" spc="-10" dirty="0">
                <a:latin typeface="Cambria"/>
                <a:cs typeface="Cambria"/>
              </a:rPr>
              <a:t> AICTE,Delhi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&amp;</a:t>
            </a:r>
            <a:r>
              <a:rPr sz="900" b="1" i="1" spc="-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Govt.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of </a:t>
            </a:r>
            <a:r>
              <a:rPr sz="900" b="1" i="1" spc="-10" dirty="0">
                <a:latin typeface="Cambria"/>
                <a:cs typeface="Cambria"/>
              </a:rPr>
              <a:t>Maharashtra,</a:t>
            </a:r>
            <a:r>
              <a:rPr sz="900" b="1" i="1" spc="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affiliated</a:t>
            </a:r>
            <a:r>
              <a:rPr sz="900" b="1" i="1" spc="-10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to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Savitribai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Phule</a:t>
            </a:r>
            <a:r>
              <a:rPr sz="900" b="1" i="1" spc="5" dirty="0">
                <a:latin typeface="Cambria"/>
                <a:cs typeface="Cambria"/>
              </a:rPr>
              <a:t> </a:t>
            </a:r>
            <a:r>
              <a:rPr sz="900" b="1" i="1" dirty="0">
                <a:latin typeface="Cambria"/>
                <a:cs typeface="Cambria"/>
              </a:rPr>
              <a:t>Pune</a:t>
            </a:r>
            <a:r>
              <a:rPr sz="900" b="1" i="1" spc="-15" dirty="0">
                <a:latin typeface="Cambria"/>
                <a:cs typeface="Cambria"/>
              </a:rPr>
              <a:t> </a:t>
            </a:r>
            <a:r>
              <a:rPr sz="900" b="1" i="1" spc="-10" dirty="0">
                <a:latin typeface="Cambria"/>
                <a:cs typeface="Cambria"/>
              </a:rPr>
              <a:t>University)</a:t>
            </a:r>
            <a:endParaRPr sz="90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165"/>
              </a:spcBef>
            </a:pPr>
            <a:r>
              <a:rPr sz="1000" spc="-10" dirty="0">
                <a:latin typeface="Cambria"/>
                <a:cs typeface="Cambria"/>
              </a:rPr>
              <a:t>Gat.No.720,Pune-</a:t>
            </a:r>
            <a:r>
              <a:rPr sz="1000" dirty="0">
                <a:latin typeface="Cambria"/>
                <a:cs typeface="Cambria"/>
              </a:rPr>
              <a:t>Nagar</a:t>
            </a:r>
            <a:r>
              <a:rPr sz="1000" spc="50" dirty="0">
                <a:latin typeface="Cambria"/>
                <a:cs typeface="Cambria"/>
              </a:rPr>
              <a:t> </a:t>
            </a:r>
            <a:r>
              <a:rPr sz="1000" spc="-10" dirty="0">
                <a:latin typeface="Cambria"/>
                <a:cs typeface="Cambria"/>
              </a:rPr>
              <a:t>Road,Wagholi,Pune,412207</a:t>
            </a:r>
            <a:endParaRPr sz="100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200" b="1" dirty="0">
                <a:latin typeface="Cambria"/>
                <a:cs typeface="Cambria"/>
              </a:rPr>
              <a:t>Department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of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Electronics</a:t>
            </a:r>
            <a:r>
              <a:rPr sz="1200" b="1" spc="-20" dirty="0">
                <a:latin typeface="Cambria"/>
                <a:cs typeface="Cambria"/>
              </a:rPr>
              <a:t> </a:t>
            </a:r>
            <a:r>
              <a:rPr sz="1200" b="1" dirty="0">
                <a:latin typeface="Cambria"/>
                <a:cs typeface="Cambria"/>
              </a:rPr>
              <a:t>and</a:t>
            </a:r>
            <a:r>
              <a:rPr sz="1200" b="1" spc="-3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Telecommunication</a:t>
            </a:r>
            <a:r>
              <a:rPr sz="1200" b="1" spc="-15" dirty="0">
                <a:latin typeface="Cambria"/>
                <a:cs typeface="Cambria"/>
              </a:rPr>
              <a:t> </a:t>
            </a:r>
            <a:r>
              <a:rPr sz="1200" b="1" spc="-10" dirty="0">
                <a:latin typeface="Cambria"/>
                <a:cs typeface="Cambria"/>
              </a:rPr>
              <a:t>Engineering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76200"/>
            <a:ext cx="9144000" cy="990600"/>
            <a:chOff x="0" y="76200"/>
            <a:chExt cx="9144000" cy="99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28587"/>
              <a:ext cx="1143000" cy="8620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01000" y="114300"/>
              <a:ext cx="1066800" cy="8763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76200"/>
              <a:ext cx="9144000" cy="990600"/>
            </a:xfrm>
            <a:custGeom>
              <a:avLst/>
              <a:gdLst/>
              <a:ahLst/>
              <a:cxnLst/>
              <a:rect l="l" t="t" r="r" b="b"/>
              <a:pathLst>
                <a:path w="9144000" h="990600">
                  <a:moveTo>
                    <a:pt x="91440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9144000" y="9906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0991" y="42163"/>
            <a:ext cx="4537710" cy="84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ts val="1645"/>
              </a:lnSpc>
              <a:spcBef>
                <a:spcPts val="100"/>
              </a:spcBef>
            </a:pPr>
            <a:r>
              <a:rPr sz="1400" b="1" i="1" spc="-10" dirty="0">
                <a:latin typeface="Times New Roman"/>
                <a:cs typeface="Times New Roman"/>
              </a:rPr>
              <a:t>SRES’s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1600"/>
              </a:lnSpc>
            </a:pPr>
            <a:r>
              <a:rPr sz="1400" b="1" dirty="0">
                <a:latin typeface="Times New Roman"/>
                <a:cs typeface="Times New Roman"/>
              </a:rPr>
              <a:t>SHREE</a:t>
            </a:r>
            <a:r>
              <a:rPr sz="1400" b="1" spc="-1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RAMCHANDRA</a:t>
            </a:r>
            <a:r>
              <a:rPr sz="1400" b="1" spc="-5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COLLEGE</a:t>
            </a:r>
            <a:r>
              <a:rPr sz="1400" b="1" spc="-2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7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  <a:p>
            <a:pPr marL="3810" algn="ctr">
              <a:lnSpc>
                <a:spcPts val="1595"/>
              </a:lnSpc>
            </a:pPr>
            <a:r>
              <a:rPr sz="1400" dirty="0">
                <a:latin typeface="Times New Roman"/>
                <a:cs typeface="Times New Roman"/>
              </a:rPr>
              <a:t>Lonikand,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Pune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–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412216</a:t>
            </a:r>
            <a:endParaRPr sz="1400">
              <a:latin typeface="Times New Roman"/>
              <a:cs typeface="Times New Roman"/>
            </a:endParaRPr>
          </a:p>
          <a:p>
            <a:pPr marL="2540" algn="ctr">
              <a:lnSpc>
                <a:spcPts val="1639"/>
              </a:lnSpc>
            </a:pPr>
            <a:r>
              <a:rPr sz="1400" b="1" dirty="0">
                <a:latin typeface="Times New Roman"/>
                <a:cs typeface="Times New Roman"/>
              </a:rPr>
              <a:t>Department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of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Computer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Engineering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28663"/>
            <a:ext cx="1187449" cy="8080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634233" y="3306902"/>
            <a:ext cx="364680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Verdana"/>
                <a:cs typeface="Verdana"/>
              </a:rPr>
              <a:t>Thank</a:t>
            </a:r>
            <a:r>
              <a:rPr sz="4000" b="1" spc="-135" dirty="0">
                <a:latin typeface="Verdana"/>
                <a:cs typeface="Verdana"/>
              </a:rPr>
              <a:t> </a:t>
            </a:r>
            <a:r>
              <a:rPr sz="4000" b="1" spc="-10" dirty="0">
                <a:latin typeface="Verdana"/>
                <a:cs typeface="Verdana"/>
              </a:rPr>
              <a:t>You!!!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595F6D-4FED-0446-F209-DA6C303D8B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76200" y="6433304"/>
            <a:ext cx="8077200" cy="310396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/>
              <a:t>To Design ESP32- Driven System For Soil Health And Climate Adaptive Irrigation Network Using </a:t>
            </a:r>
            <a:r>
              <a:rPr lang="en-US" dirty="0" err="1"/>
              <a:t>Iot</a:t>
            </a:r>
            <a:endParaRPr lang="en-US" spc="-25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EEB4220-DBFC-FAA2-EAC8-DB6BFD4C67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lang="en-IN" spc="-25" smtClean="0"/>
              <a:t>29</a:t>
            </a:fld>
            <a:endParaRPr lang="en-IN"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</TotalTime>
  <Words>3954</Words>
  <Application>Microsoft Office PowerPoint</Application>
  <PresentationFormat>On-screen Show (4:3)</PresentationFormat>
  <Paragraphs>534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Aptos</vt:lpstr>
      <vt:lpstr>Arial</vt:lpstr>
      <vt:lpstr>Arial MT</vt:lpstr>
      <vt:lpstr>Calibri</vt:lpstr>
      <vt:lpstr>Cambria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ICOER</dc:creator>
  <cp:lastModifiedBy>samyak pandechari</cp:lastModifiedBy>
  <cp:revision>18</cp:revision>
  <dcterms:created xsi:type="dcterms:W3CDTF">2026-02-12T16:27:33Z</dcterms:created>
  <dcterms:modified xsi:type="dcterms:W3CDTF">2026-06-28T16:00:40Z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2025-11-12T00:00:00Z</vt:filetime>
  </property>
  <property fmtid="{D5CDD505-2E9C-101B-9397-08002B2CF9AE}" pid="3" name="Creator">
    <vt:lpwstr>Microsoft® PowerPoint® 2024</vt:lpwstr>
  </property>
  <property fmtid="{D5CDD505-2E9C-101B-9397-08002B2CF9AE}" pid="4" name="LastSaved">
    <vt:filetime>2026-02-12T00:00:00Z</vt:filetime>
  </property>
  <property fmtid="{D5CDD505-2E9C-101B-9397-08002B2CF9AE}" pid="5" name="Producer">
    <vt:lpwstr>Microsoft® PowerPoint® 2024</vt:lpwstr>
  </property>
</Properties>
</file>